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6" r:id="rId11"/>
    <p:sldId id="277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l3dM39KmqCJDCRUKLUoD6LeRS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460"/>
    <p:restoredTop sz="94669"/>
  </p:normalViewPr>
  <p:slideViewPr>
    <p:cSldViewPr snapToGrid="0">
      <p:cViewPr>
        <p:scale>
          <a:sx n="94" d="100"/>
          <a:sy n="94" d="100"/>
        </p:scale>
        <p:origin x="392" y="5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" name="Google Shape;5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zh-C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c088a2287_0_1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2c088a2287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6B86AAA-6A67-C021-DA1C-CC8757FBD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c088a2287_0_149:notes">
            <a:extLst>
              <a:ext uri="{FF2B5EF4-FFF2-40B4-BE49-F238E27FC236}">
                <a16:creationId xmlns:a16="http://schemas.microsoft.com/office/drawing/2014/main" id="{6C06B197-2AFD-C74C-A83F-85913AA7DC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2c088a2287_0_149:notes">
            <a:extLst>
              <a:ext uri="{FF2B5EF4-FFF2-40B4-BE49-F238E27FC236}">
                <a16:creationId xmlns:a16="http://schemas.microsoft.com/office/drawing/2014/main" id="{27EF4AC8-A2FC-D33E-E0E6-670086EEF1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96950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608DF472-53A3-B8AD-F8D4-1925E5026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c088a2287_0_149:notes">
            <a:extLst>
              <a:ext uri="{FF2B5EF4-FFF2-40B4-BE49-F238E27FC236}">
                <a16:creationId xmlns:a16="http://schemas.microsoft.com/office/drawing/2014/main" id="{A2398E05-9182-8DEC-6675-1959E9589C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2c088a2287_0_149:notes">
            <a:extLst>
              <a:ext uri="{FF2B5EF4-FFF2-40B4-BE49-F238E27FC236}">
                <a16:creationId xmlns:a16="http://schemas.microsoft.com/office/drawing/2014/main" id="{108B4080-0379-861D-4A91-8F76BF5150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49521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877D0A6-A698-EEB4-B700-8805EF32B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c088a2287_0_149:notes">
            <a:extLst>
              <a:ext uri="{FF2B5EF4-FFF2-40B4-BE49-F238E27FC236}">
                <a16:creationId xmlns:a16="http://schemas.microsoft.com/office/drawing/2014/main" id="{EE5D5315-48F9-D976-509F-952D306CC0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2c088a2287_0_149:notes">
            <a:extLst>
              <a:ext uri="{FF2B5EF4-FFF2-40B4-BE49-F238E27FC236}">
                <a16:creationId xmlns:a16="http://schemas.microsoft.com/office/drawing/2014/main" id="{541A688B-0FB3-DDA2-CA46-F2D3F07221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66103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3DA1F025-8A02-5850-7FA3-C24A1701B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c088a2287_0_149:notes">
            <a:extLst>
              <a:ext uri="{FF2B5EF4-FFF2-40B4-BE49-F238E27FC236}">
                <a16:creationId xmlns:a16="http://schemas.microsoft.com/office/drawing/2014/main" id="{8D5BA1EF-EF7D-B923-89E7-3BE14DB607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2c088a2287_0_149:notes">
            <a:extLst>
              <a:ext uri="{FF2B5EF4-FFF2-40B4-BE49-F238E27FC236}">
                <a16:creationId xmlns:a16="http://schemas.microsoft.com/office/drawing/2014/main" id="{9B0540B8-F561-918E-7773-061AE9C1DD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32405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FD73DD26-49D1-CED4-79AA-1BA5A3F2A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c088a2287_0_149:notes">
            <a:extLst>
              <a:ext uri="{FF2B5EF4-FFF2-40B4-BE49-F238E27FC236}">
                <a16:creationId xmlns:a16="http://schemas.microsoft.com/office/drawing/2014/main" id="{421C70D8-A454-B0C7-90FE-8F99C28F14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2c088a2287_0_149:notes">
            <a:extLst>
              <a:ext uri="{FF2B5EF4-FFF2-40B4-BE49-F238E27FC236}">
                <a16:creationId xmlns:a16="http://schemas.microsoft.com/office/drawing/2014/main" id="{1A855C80-123E-375A-EA56-854BAC617E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39215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938B0EEC-53A2-B20A-0A89-87424DCEA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c088a2287_0_149:notes">
            <a:extLst>
              <a:ext uri="{FF2B5EF4-FFF2-40B4-BE49-F238E27FC236}">
                <a16:creationId xmlns:a16="http://schemas.microsoft.com/office/drawing/2014/main" id="{59A41CB5-04FE-9B85-EDA6-D151F6EFF2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2c088a2287_0_149:notes">
            <a:extLst>
              <a:ext uri="{FF2B5EF4-FFF2-40B4-BE49-F238E27FC236}">
                <a16:creationId xmlns:a16="http://schemas.microsoft.com/office/drawing/2014/main" id="{05C63ADC-929A-9F12-FD63-C2E810E331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33137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5CDD8F6D-DB52-4A1F-744C-CB305D1BC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c088a2287_0_149:notes">
            <a:extLst>
              <a:ext uri="{FF2B5EF4-FFF2-40B4-BE49-F238E27FC236}">
                <a16:creationId xmlns:a16="http://schemas.microsoft.com/office/drawing/2014/main" id="{B87ABF9F-0382-CF22-629E-006DE380EC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2c088a2287_0_149:notes">
            <a:extLst>
              <a:ext uri="{FF2B5EF4-FFF2-40B4-BE49-F238E27FC236}">
                <a16:creationId xmlns:a16="http://schemas.microsoft.com/office/drawing/2014/main" id="{5900B44C-4F0D-CACA-B291-B072E4D63E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8979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>
  <p:cSld name="两栏内容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776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/>
          <p:nvPr/>
        </p:nvSpPr>
        <p:spPr>
          <a:xfrm>
            <a:off x="946997" y="666180"/>
            <a:ext cx="934200" cy="3093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zh-CN" sz="3200" b="1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答辩汇报模板</a:t>
            </a:r>
            <a:endParaRPr sz="3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486020" y="508451"/>
            <a:ext cx="8171960" cy="402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635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zh-CN" sz="2000" b="1" i="0" u="none" strike="noStrike" cap="none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使用说明</a:t>
            </a:r>
            <a:endParaRPr sz="2000" b="1" i="0" u="none" strike="noStrike" cap="none" dirty="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imes New Roman"/>
              <a:buAutoNum type="arabicPeriod"/>
            </a:pPr>
            <a:r>
              <a:rPr lang="zh-CN" b="1" i="0" u="none" strike="noStrike" cap="none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PPT均采用英文制作，每位同学15分钟，英文口头+PPT汇报10分钟，中英文点评及提问5分钟左右</a:t>
            </a:r>
            <a:endParaRPr b="1" i="0" u="none" strike="noStrike" cap="none" dirty="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imes New Roman"/>
              <a:buAutoNum type="arabicPeriod"/>
            </a:pPr>
            <a:r>
              <a:rPr lang="zh-CN" b="1" i="0" u="none" strike="noStrike" cap="none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建议字体：Times New Roman；字号不小于12号字；行间距：1.15。</a:t>
            </a:r>
            <a:endParaRPr b="1" i="0" u="none" strike="noStrike" cap="none" dirty="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imes New Roman"/>
              <a:buAutoNum type="arabicPeriod"/>
            </a:pPr>
            <a:r>
              <a:rPr lang="zh-CN" b="1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格式建议:使用清晰简明的短语，不要出现大段冗长的文字，必要时使用图表、示意图和流程图呈现</a:t>
            </a:r>
            <a:endParaRPr b="1" dirty="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imes New Roman"/>
              <a:buAutoNum type="arabicPeriod"/>
            </a:pPr>
            <a:r>
              <a:rPr lang="zh-CN" b="1" i="0" u="none" strike="noStrike" cap="none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建议</a:t>
            </a:r>
            <a:r>
              <a:rPr lang="zh-CN" altLang="en-US" b="1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终期</a:t>
            </a:r>
            <a:r>
              <a:rPr lang="zh-CN" b="1" i="0" u="none" strike="noStrike" cap="none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汇报包含以下内容：</a:t>
            </a:r>
            <a:endParaRPr lang="en-US" altLang="zh-CN" b="1" i="0" u="none" strike="noStrike" cap="none" dirty="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imes New Roman"/>
              <a:buAutoNum type="arabicPeriod"/>
            </a:pPr>
            <a:endParaRPr b="1" i="0" u="none" strike="noStrike" cap="none" dirty="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3500" lvl="5">
              <a:lnSpc>
                <a:spcPct val="115000"/>
              </a:lnSpc>
              <a:buClr>
                <a:srgbClr val="980000"/>
              </a:buClr>
              <a:buSzPts val="1800"/>
            </a:pPr>
            <a:r>
              <a:rPr lang="zh-CN" b="1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标题页/Title（1页）</a:t>
            </a:r>
            <a:endParaRPr b="1" i="0" u="none" strike="noStrike" cap="none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3500" lvl="5">
              <a:lnSpc>
                <a:spcPct val="115000"/>
              </a:lnSpc>
              <a:buClr>
                <a:srgbClr val="980000"/>
              </a:buClr>
              <a:buSzPts val="1800"/>
            </a:pPr>
            <a:r>
              <a:rPr lang="zh-CN" b="1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研究问题/Research Question</a:t>
            </a:r>
            <a:r>
              <a:rPr lang="zh-CN" b="1" i="0" u="none" strike="noStrike" cap="none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（1页）</a:t>
            </a:r>
            <a:endParaRPr b="1" i="0" u="none" strike="noStrike" cap="none" dirty="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3500" lvl="5">
              <a:lnSpc>
                <a:spcPct val="115000"/>
              </a:lnSpc>
              <a:buClr>
                <a:srgbClr val="980000"/>
              </a:buClr>
              <a:buSzPts val="1800"/>
            </a:pPr>
            <a:r>
              <a:rPr lang="zh-CN" b="1" i="0" u="none" strike="noStrike" cap="none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研究背景/Background（1页）</a:t>
            </a:r>
            <a:endParaRPr b="1" i="0" u="none" strike="noStrike" cap="none" dirty="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3500" lvl="5">
              <a:lnSpc>
                <a:spcPct val="115000"/>
              </a:lnSpc>
              <a:buClr>
                <a:srgbClr val="980000"/>
              </a:buClr>
              <a:buSzPts val="1800"/>
            </a:pPr>
            <a:r>
              <a:rPr lang="zh-CN" b="1" i="0" u="none" strike="noStrike" cap="none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文献综述/Literature Review（</a:t>
            </a:r>
            <a:r>
              <a:rPr lang="zh-CN" b="1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</a:t>
            </a:r>
            <a:r>
              <a:rPr lang="zh-CN" b="1" i="0" u="none" strike="noStrike" cap="none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2页）</a:t>
            </a:r>
            <a:endParaRPr b="1" i="0" u="none" strike="noStrike" cap="none" dirty="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3500" lvl="5">
              <a:lnSpc>
                <a:spcPct val="115000"/>
              </a:lnSpc>
              <a:buClr>
                <a:srgbClr val="980000"/>
              </a:buClr>
              <a:buSzPts val="1800"/>
            </a:pPr>
            <a:r>
              <a:rPr lang="zh-CN" b="1" i="0" u="none" strike="noStrike" cap="none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研究设计或方法/Research Design/Method（2-</a:t>
            </a:r>
            <a:r>
              <a:rPr lang="zh-CN" b="1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zh-CN" b="1" i="0" u="none" strike="noStrike" cap="none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页） 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3500" lvl="5">
              <a:lnSpc>
                <a:spcPct val="115000"/>
              </a:lnSpc>
              <a:buClr>
                <a:srgbClr val="980000"/>
              </a:buClr>
              <a:buSzPts val="1800"/>
            </a:pPr>
            <a:r>
              <a:rPr lang="zh-CN" b="1" i="0" u="none" strike="noStrike" cap="none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研究结果/Results（</a:t>
            </a:r>
            <a:r>
              <a:rPr lang="zh-CN" b="1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2-4</a:t>
            </a:r>
            <a:r>
              <a:rPr lang="zh-CN" b="1" i="0" u="none" strike="noStrike" cap="none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页）</a:t>
            </a:r>
            <a:endParaRPr b="1" i="0" u="none" strike="noStrike" cap="none" dirty="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3500" lvl="5">
              <a:lnSpc>
                <a:spcPct val="115000"/>
              </a:lnSpc>
              <a:buClr>
                <a:srgbClr val="980000"/>
              </a:buClr>
              <a:buSzPts val="1800"/>
            </a:pPr>
            <a:r>
              <a:rPr lang="zh-CN" b="1" i="0" u="none" strike="noStrike" cap="none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研究讨论或结论/Discussion/Conclusion（ 1页）</a:t>
            </a:r>
            <a:endParaRPr b="1" i="0" u="none" strike="noStrike" cap="none" dirty="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3500" lvl="5">
              <a:lnSpc>
                <a:spcPct val="115000"/>
              </a:lnSpc>
              <a:buClr>
                <a:srgbClr val="980000"/>
              </a:buClr>
              <a:buSzPts val="1800"/>
            </a:pPr>
            <a:r>
              <a:rPr lang="zh-CN" b="1" i="0" u="none" strike="noStrike" cap="none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参考文献/ References（1页）</a:t>
            </a:r>
            <a:endParaRPr sz="1600" b="1" i="0" u="none" strike="noStrike" cap="none" dirty="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6028450" y="4750289"/>
            <a:ext cx="295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CN" sz="1400" b="0" i="0" u="none" strike="noStrike" cap="none">
                <a:solidFill>
                  <a:srgbClr val="7F7F7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*在提交答辩汇报PPT前请删除此页</a:t>
            </a:r>
            <a:endParaRPr sz="1400" b="0" i="0" u="none" strike="noStrike" cap="non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86821-18BB-8FF5-A7D9-C40BA7DE7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F17E4D-26BC-1976-5B0A-078CD0E5A9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pic>
        <p:nvPicPr>
          <p:cNvPr id="4" name="Google Shape;84;g32c088a2287_0_24">
            <a:extLst>
              <a:ext uri="{FF2B5EF4-FFF2-40B4-BE49-F238E27FC236}">
                <a16:creationId xmlns:a16="http://schemas.microsoft.com/office/drawing/2014/main" id="{8712D784-455E-07AE-CB40-AC78A6FFB11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66;p2">
            <a:extLst>
              <a:ext uri="{FF2B5EF4-FFF2-40B4-BE49-F238E27FC236}">
                <a16:creationId xmlns:a16="http://schemas.microsoft.com/office/drawing/2014/main" id="{985BD474-DCBE-5C4C-EDCC-6D362550DA86}"/>
              </a:ext>
            </a:extLst>
          </p:cNvPr>
          <p:cNvSpPr txBox="1">
            <a:spLocks/>
          </p:cNvSpPr>
          <p:nvPr/>
        </p:nvSpPr>
        <p:spPr>
          <a:xfrm>
            <a:off x="1482856" y="3582416"/>
            <a:ext cx="6018300" cy="446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90000"/>
              </a:lnSpc>
              <a:buClr>
                <a:schemeClr val="lt1"/>
              </a:buClr>
              <a:buSzPct val="64285"/>
              <a:buFont typeface="Arial"/>
              <a:buNone/>
            </a:pPr>
            <a:r>
              <a:rPr lang="en-US" altLang="zh-CN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Name</a:t>
            </a:r>
            <a:r>
              <a:rPr lang="zh-CN" altLang="en-US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：</a:t>
            </a:r>
            <a:r>
              <a:rPr lang="en-US" altLang="zh-CN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______     Research Advisor</a:t>
            </a:r>
            <a:r>
              <a:rPr lang="zh-CN" altLang="en-US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：</a:t>
            </a:r>
            <a:r>
              <a:rPr lang="en-US" altLang="zh-CN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______</a:t>
            </a: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Google Shape;65;p2">
            <a:extLst>
              <a:ext uri="{FF2B5EF4-FFF2-40B4-BE49-F238E27FC236}">
                <a16:creationId xmlns:a16="http://schemas.microsoft.com/office/drawing/2014/main" id="{030A8F28-C5E7-1DE0-293C-CF3F0DC26EAE}"/>
              </a:ext>
            </a:extLst>
          </p:cNvPr>
          <p:cNvSpPr txBox="1">
            <a:spLocks/>
          </p:cNvSpPr>
          <p:nvPr/>
        </p:nvSpPr>
        <p:spPr>
          <a:xfrm>
            <a:off x="772988" y="1179750"/>
            <a:ext cx="7598100" cy="19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15000"/>
              </a:lnSpc>
              <a:buClr>
                <a:schemeClr val="lt1"/>
              </a:buClr>
              <a:buSzPts val="4500"/>
              <a:buFont typeface="Microsoft YaHei"/>
              <a:buNone/>
            </a:pPr>
            <a:r>
              <a:rPr lang="en-US" altLang="zh-CN" sz="43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</a:t>
            </a:r>
            <a:endParaRPr lang="en-US" sz="43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80748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32c088a2287_0_1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551" y="457937"/>
            <a:ext cx="663531" cy="552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32c088a2287_0_1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44850" y="189817"/>
            <a:ext cx="1770422" cy="31342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2c088a2287_0_149"/>
          <p:cNvSpPr/>
          <p:nvPr/>
        </p:nvSpPr>
        <p:spPr>
          <a:xfrm>
            <a:off x="0" y="5047864"/>
            <a:ext cx="9144000" cy="104400"/>
          </a:xfrm>
          <a:prstGeom prst="rect">
            <a:avLst/>
          </a:prstGeom>
          <a:gradFill>
            <a:gsLst>
              <a:gs pos="0">
                <a:srgbClr val="DF02FC"/>
              </a:gs>
              <a:gs pos="50000">
                <a:srgbClr val="2E3BEE"/>
              </a:gs>
              <a:gs pos="100000">
                <a:srgbClr val="10E4DF"/>
              </a:gs>
            </a:gsLst>
            <a:lin ang="4800126" scaled="0"/>
          </a:gradFill>
          <a:ln>
            <a:noFill/>
          </a:ln>
          <a:effectLst>
            <a:outerShdw blurRad="241300" sx="102000" sy="102000" algn="ctr" rotWithShape="0">
              <a:srgbClr val="244AEC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</a:endParaRPr>
          </a:p>
        </p:txBody>
      </p:sp>
      <p:sp>
        <p:nvSpPr>
          <p:cNvPr id="2" name="Google Shape;71;p3">
            <a:extLst>
              <a:ext uri="{FF2B5EF4-FFF2-40B4-BE49-F238E27FC236}">
                <a16:creationId xmlns:a16="http://schemas.microsoft.com/office/drawing/2014/main" id="{40ED20B2-DF1C-011D-2B10-8F9EDB7C899C}"/>
              </a:ext>
            </a:extLst>
          </p:cNvPr>
          <p:cNvSpPr txBox="1">
            <a:spLocks/>
          </p:cNvSpPr>
          <p:nvPr/>
        </p:nvSpPr>
        <p:spPr>
          <a:xfrm>
            <a:off x="937082" y="37257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5000"/>
              </a:lnSpc>
              <a:spcAft>
                <a:spcPts val="1200"/>
              </a:spcAft>
              <a:buClr>
                <a:schemeClr val="dk1"/>
              </a:buClr>
              <a:buSzPts val="1100"/>
            </a:pPr>
            <a:r>
              <a:rPr lang="en-US" altLang="zh-CN" sz="2800" b="1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Question</a:t>
            </a:r>
            <a:endParaRPr lang="en-US" sz="2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72;p3">
            <a:extLst>
              <a:ext uri="{FF2B5EF4-FFF2-40B4-BE49-F238E27FC236}">
                <a16:creationId xmlns:a16="http://schemas.microsoft.com/office/drawing/2014/main" id="{DD077B0F-A159-E9E5-28ED-B004E264856A}"/>
              </a:ext>
            </a:extLst>
          </p:cNvPr>
          <p:cNvSpPr txBox="1">
            <a:spLocks/>
          </p:cNvSpPr>
          <p:nvPr/>
        </p:nvSpPr>
        <p:spPr>
          <a:xfrm>
            <a:off x="443925" y="1177631"/>
            <a:ext cx="8256300" cy="30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buClr>
                <a:schemeClr val="dk1"/>
              </a:buClr>
              <a:buSzPts val="800"/>
            </a:pPr>
            <a:r>
              <a:rPr lang="zh-CN" altLang="en-US" sz="120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指导问题：</a:t>
            </a:r>
          </a:p>
          <a:p>
            <a:pPr marL="171450" indent="-171450">
              <a:lnSpc>
                <a:spcPct val="150000"/>
              </a:lnSpc>
              <a:buClr>
                <a:schemeClr val="dk1"/>
              </a:buClr>
              <a:buSzPts val="800"/>
              <a:buFont typeface="Arial"/>
              <a:buChar char="●"/>
            </a:pPr>
            <a:r>
              <a:rPr lang="zh-CN" altLang="en-US" sz="120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你的研究范围是什么？</a:t>
            </a:r>
          </a:p>
          <a:p>
            <a:pPr marL="171450" indent="-171450">
              <a:lnSpc>
                <a:spcPct val="150000"/>
              </a:lnSpc>
              <a:buClr>
                <a:schemeClr val="dk1"/>
              </a:buClr>
              <a:buSzPts val="800"/>
              <a:buFont typeface="Arial"/>
              <a:buChar char="●"/>
            </a:pPr>
            <a:r>
              <a:rPr lang="zh-CN" altLang="en-US" sz="120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你想要通过研究回答的具体问题是什么？</a:t>
            </a:r>
          </a:p>
          <a:p>
            <a:pPr marL="171450" indent="-171450">
              <a:lnSpc>
                <a:spcPct val="150000"/>
              </a:lnSpc>
              <a:buClr>
                <a:schemeClr val="dk1"/>
              </a:buClr>
              <a:buSzPts val="800"/>
              <a:buFont typeface="Arial"/>
              <a:buChar char="●"/>
            </a:pPr>
            <a:r>
              <a:rPr lang="zh-CN" altLang="en-US" sz="120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你的研究假设是什么？</a:t>
            </a:r>
            <a:endParaRPr lang="zh-CN" altLang="en-US" sz="1200" dirty="0">
              <a:solidFill>
                <a:srgbClr val="7F7F7F"/>
              </a:solidFill>
              <a:highlight>
                <a:srgbClr val="FFFFFF"/>
              </a:highlight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9C5D6474-9BC1-2A51-75C4-AD9FCB961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32c088a2287_0_149">
            <a:extLst>
              <a:ext uri="{FF2B5EF4-FFF2-40B4-BE49-F238E27FC236}">
                <a16:creationId xmlns:a16="http://schemas.microsoft.com/office/drawing/2014/main" id="{2ABCBCAD-83F4-8FBA-93CC-9CF7C9AFAC3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551" y="457937"/>
            <a:ext cx="663531" cy="552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32c088a2287_0_149">
            <a:extLst>
              <a:ext uri="{FF2B5EF4-FFF2-40B4-BE49-F238E27FC236}">
                <a16:creationId xmlns:a16="http://schemas.microsoft.com/office/drawing/2014/main" id="{3EBE7A58-0D9B-C587-D788-D0FFA621D0D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44850" y="189817"/>
            <a:ext cx="1770422" cy="31342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2c088a2287_0_149">
            <a:extLst>
              <a:ext uri="{FF2B5EF4-FFF2-40B4-BE49-F238E27FC236}">
                <a16:creationId xmlns:a16="http://schemas.microsoft.com/office/drawing/2014/main" id="{B8A299CD-1EAA-5E86-6640-7F23A8EFB4AC}"/>
              </a:ext>
            </a:extLst>
          </p:cNvPr>
          <p:cNvSpPr/>
          <p:nvPr/>
        </p:nvSpPr>
        <p:spPr>
          <a:xfrm>
            <a:off x="0" y="5047864"/>
            <a:ext cx="9144000" cy="104400"/>
          </a:xfrm>
          <a:prstGeom prst="rect">
            <a:avLst/>
          </a:prstGeom>
          <a:gradFill>
            <a:gsLst>
              <a:gs pos="0">
                <a:srgbClr val="DF02FC"/>
              </a:gs>
              <a:gs pos="50000">
                <a:srgbClr val="2E3BEE"/>
              </a:gs>
              <a:gs pos="100000">
                <a:srgbClr val="10E4DF"/>
              </a:gs>
            </a:gsLst>
            <a:lin ang="4800126" scaled="0"/>
          </a:gradFill>
          <a:ln>
            <a:noFill/>
          </a:ln>
          <a:effectLst>
            <a:outerShdw blurRad="241300" sx="102000" sy="102000" algn="ctr" rotWithShape="0">
              <a:srgbClr val="244AEC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</a:endParaRPr>
          </a:p>
        </p:txBody>
      </p:sp>
      <p:sp>
        <p:nvSpPr>
          <p:cNvPr id="4" name="Google Shape;79;p4">
            <a:extLst>
              <a:ext uri="{FF2B5EF4-FFF2-40B4-BE49-F238E27FC236}">
                <a16:creationId xmlns:a16="http://schemas.microsoft.com/office/drawing/2014/main" id="{6795C406-0678-20A2-1992-673199EF2BDE}"/>
              </a:ext>
            </a:extLst>
          </p:cNvPr>
          <p:cNvSpPr txBox="1">
            <a:spLocks/>
          </p:cNvSpPr>
          <p:nvPr/>
        </p:nvSpPr>
        <p:spPr>
          <a:xfrm>
            <a:off x="937082" y="372573"/>
            <a:ext cx="430836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5000"/>
              </a:lnSpc>
              <a:spcAft>
                <a:spcPts val="1200"/>
              </a:spcAft>
              <a:buClr>
                <a:schemeClr val="dk1"/>
              </a:buClr>
              <a:buSzPts val="1100"/>
            </a:pPr>
            <a:r>
              <a:rPr lang="en-US" altLang="zh-CN" sz="2800" b="1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</a:t>
            </a:r>
            <a:endParaRPr lang="en-US" sz="2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80;p4">
            <a:extLst>
              <a:ext uri="{FF2B5EF4-FFF2-40B4-BE49-F238E27FC236}">
                <a16:creationId xmlns:a16="http://schemas.microsoft.com/office/drawing/2014/main" id="{1D4A92B5-E4E6-7369-B9BB-5657D4694185}"/>
              </a:ext>
            </a:extLst>
          </p:cNvPr>
          <p:cNvSpPr txBox="1">
            <a:spLocks/>
          </p:cNvSpPr>
          <p:nvPr/>
        </p:nvSpPr>
        <p:spPr>
          <a:xfrm>
            <a:off x="443850" y="1005681"/>
            <a:ext cx="8256300" cy="30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buClr>
                <a:schemeClr val="dk1"/>
              </a:buClr>
              <a:buSzPts val="800"/>
            </a:pPr>
            <a:r>
              <a:rPr lang="zh-CN" altLang="en-US" sz="120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指导问题：</a:t>
            </a:r>
            <a:endParaRPr lang="zh-CN" altLang="en-US"/>
          </a:p>
          <a:p>
            <a:pPr marL="171450" indent="-171450">
              <a:lnSpc>
                <a:spcPct val="150000"/>
              </a:lnSpc>
              <a:buClr>
                <a:schemeClr val="dk1"/>
              </a:buClr>
              <a:buSzPts val="800"/>
              <a:buFont typeface="Arial"/>
              <a:buChar char="●"/>
            </a:pPr>
            <a:r>
              <a:rPr lang="zh-CN" altLang="en-US" sz="120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与该核心问题相关的研究领域是什么？</a:t>
            </a:r>
            <a:endParaRPr lang="zh-CN" altLang="en-US"/>
          </a:p>
          <a:p>
            <a:pPr marL="171450" indent="-171450">
              <a:lnSpc>
                <a:spcPct val="150000"/>
              </a:lnSpc>
              <a:buClr>
                <a:schemeClr val="dk1"/>
              </a:buClr>
              <a:buSzPts val="800"/>
              <a:buFont typeface="Arial"/>
              <a:buChar char="●"/>
            </a:pPr>
            <a:r>
              <a:rPr lang="zh-CN" altLang="en-US" sz="120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为什么这项研究是重要的？</a:t>
            </a:r>
            <a:endParaRPr lang="zh-CN" altLang="en-US"/>
          </a:p>
          <a:p>
            <a:pPr marL="914400" lvl="1" indent="-279400">
              <a:lnSpc>
                <a:spcPct val="150000"/>
              </a:lnSpc>
              <a:buClr>
                <a:schemeClr val="dk1"/>
              </a:buClr>
              <a:buSzPts val="800"/>
              <a:buFont typeface="Arial"/>
              <a:buChar char="○"/>
            </a:pPr>
            <a:r>
              <a:rPr lang="zh-CN" altLang="en-US" sz="120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它对于你，或对你所处的社区</a:t>
            </a:r>
            <a:r>
              <a:rPr lang="en-US" altLang="zh-CN" sz="120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/</a:t>
            </a:r>
            <a:r>
              <a:rPr lang="zh-CN" altLang="en-US" sz="120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社会，或学术界的意义是什么？</a:t>
            </a:r>
            <a:endParaRPr lang="zh-CN" altLang="en-US"/>
          </a:p>
          <a:p>
            <a:pPr marL="914400" lvl="1" indent="-279400">
              <a:lnSpc>
                <a:spcPct val="150000"/>
              </a:lnSpc>
              <a:buClr>
                <a:schemeClr val="dk1"/>
              </a:buClr>
              <a:buSzPts val="800"/>
              <a:buFont typeface="Arial"/>
              <a:buChar char="○"/>
            </a:pPr>
            <a:r>
              <a:rPr lang="zh-CN" altLang="en-US" sz="120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普通读者为什么需要关注该研究的结果？</a:t>
            </a:r>
            <a:endParaRPr lang="zh-CN" altLang="en-US" sz="1200" dirty="0">
              <a:solidFill>
                <a:srgbClr val="7F7F7F"/>
              </a:solidFill>
              <a:highlight>
                <a:srgbClr val="FFFFFF"/>
              </a:highlight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55598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DE17BD24-770A-9F01-DCD7-BAA36839A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32c088a2287_0_149">
            <a:extLst>
              <a:ext uri="{FF2B5EF4-FFF2-40B4-BE49-F238E27FC236}">
                <a16:creationId xmlns:a16="http://schemas.microsoft.com/office/drawing/2014/main" id="{AFFE41FC-B676-BB9B-11F4-96A00E6499B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551" y="457937"/>
            <a:ext cx="663531" cy="552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32c088a2287_0_149">
            <a:extLst>
              <a:ext uri="{FF2B5EF4-FFF2-40B4-BE49-F238E27FC236}">
                <a16:creationId xmlns:a16="http://schemas.microsoft.com/office/drawing/2014/main" id="{0C6A5B72-997F-5378-4D01-63098AD3AC9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44850" y="189817"/>
            <a:ext cx="1770422" cy="31342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2c088a2287_0_149">
            <a:extLst>
              <a:ext uri="{FF2B5EF4-FFF2-40B4-BE49-F238E27FC236}">
                <a16:creationId xmlns:a16="http://schemas.microsoft.com/office/drawing/2014/main" id="{D29A0B1D-1DBA-10B3-BC61-6F816666C975}"/>
              </a:ext>
            </a:extLst>
          </p:cNvPr>
          <p:cNvSpPr/>
          <p:nvPr/>
        </p:nvSpPr>
        <p:spPr>
          <a:xfrm>
            <a:off x="0" y="5047864"/>
            <a:ext cx="9144000" cy="104400"/>
          </a:xfrm>
          <a:prstGeom prst="rect">
            <a:avLst/>
          </a:prstGeom>
          <a:gradFill>
            <a:gsLst>
              <a:gs pos="0">
                <a:srgbClr val="DF02FC"/>
              </a:gs>
              <a:gs pos="50000">
                <a:srgbClr val="2E3BEE"/>
              </a:gs>
              <a:gs pos="100000">
                <a:srgbClr val="10E4DF"/>
              </a:gs>
            </a:gsLst>
            <a:lin ang="4800126" scaled="0"/>
          </a:gradFill>
          <a:ln>
            <a:noFill/>
          </a:ln>
          <a:effectLst>
            <a:outerShdw blurRad="241300" sx="102000" sy="102000" algn="ctr" rotWithShape="0">
              <a:srgbClr val="244AEC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</a:endParaRPr>
          </a:p>
        </p:txBody>
      </p:sp>
      <p:sp>
        <p:nvSpPr>
          <p:cNvPr id="2" name="Google Shape;87;p5">
            <a:extLst>
              <a:ext uri="{FF2B5EF4-FFF2-40B4-BE49-F238E27FC236}">
                <a16:creationId xmlns:a16="http://schemas.microsoft.com/office/drawing/2014/main" id="{859424DA-9C1F-71CD-B4F9-71803A231ED8}"/>
              </a:ext>
            </a:extLst>
          </p:cNvPr>
          <p:cNvSpPr txBox="1">
            <a:spLocks/>
          </p:cNvSpPr>
          <p:nvPr/>
        </p:nvSpPr>
        <p:spPr>
          <a:xfrm>
            <a:off x="857020" y="372711"/>
            <a:ext cx="784313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5000"/>
              </a:lnSpc>
              <a:spcAft>
                <a:spcPts val="1200"/>
              </a:spcAft>
              <a:buClr>
                <a:schemeClr val="dk1"/>
              </a:buClr>
              <a:buSzPts val="1100"/>
            </a:pPr>
            <a:r>
              <a:rPr lang="en-US" altLang="zh-CN" sz="2800" b="1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lang="en-US" sz="2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88;p5">
            <a:extLst>
              <a:ext uri="{FF2B5EF4-FFF2-40B4-BE49-F238E27FC236}">
                <a16:creationId xmlns:a16="http://schemas.microsoft.com/office/drawing/2014/main" id="{2F947193-1FE7-3F00-FF8E-14BE505AFFC4}"/>
              </a:ext>
            </a:extLst>
          </p:cNvPr>
          <p:cNvSpPr txBox="1">
            <a:spLocks/>
          </p:cNvSpPr>
          <p:nvPr/>
        </p:nvSpPr>
        <p:spPr>
          <a:xfrm>
            <a:off x="443925" y="1177631"/>
            <a:ext cx="8256300" cy="30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buClr>
                <a:schemeClr val="dk1"/>
              </a:buClr>
              <a:buSzPts val="800"/>
            </a:pPr>
            <a:r>
              <a:rPr lang="zh-CN" altLang="en-US" sz="120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指导问题：</a:t>
            </a:r>
          </a:p>
          <a:p>
            <a:pPr marL="171450" indent="-171450">
              <a:lnSpc>
                <a:spcPct val="150000"/>
              </a:lnSpc>
              <a:buClr>
                <a:schemeClr val="dk1"/>
              </a:buClr>
              <a:buSzPts val="800"/>
              <a:buFont typeface="Arial"/>
              <a:buChar char="●"/>
            </a:pPr>
            <a:r>
              <a:rPr lang="zh-CN" altLang="en-US" sz="120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以往其他学者的研究有哪些？</a:t>
            </a:r>
          </a:p>
          <a:p>
            <a:pPr marL="171450" indent="-171450">
              <a:lnSpc>
                <a:spcPct val="150000"/>
              </a:lnSpc>
              <a:buClr>
                <a:schemeClr val="dk1"/>
              </a:buClr>
              <a:buSzPts val="800"/>
              <a:buFont typeface="Arial"/>
              <a:buChar char="●"/>
            </a:pPr>
            <a:r>
              <a:rPr lang="zh-CN" altLang="en-US" sz="120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以往的研究中的局限性与未回答的问题有哪些？</a:t>
            </a:r>
          </a:p>
          <a:p>
            <a:pPr marL="171450" indent="-171450">
              <a:lnSpc>
                <a:spcPct val="150000"/>
              </a:lnSpc>
              <a:buClr>
                <a:schemeClr val="dk1"/>
              </a:buClr>
              <a:buSzPts val="800"/>
              <a:buFont typeface="Arial"/>
              <a:buChar char="●"/>
            </a:pPr>
            <a:r>
              <a:rPr lang="zh-CN" altLang="en-US" sz="120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个人研究的独创性有哪些？</a:t>
            </a:r>
            <a:endParaRPr lang="zh-CN" altLang="en-US"/>
          </a:p>
          <a:p>
            <a:pPr marL="171450" indent="-171450">
              <a:lnSpc>
                <a:spcPct val="150000"/>
              </a:lnSpc>
              <a:buClr>
                <a:schemeClr val="dk1"/>
              </a:buClr>
              <a:buSzPts val="800"/>
              <a:buFont typeface="Arial"/>
              <a:buChar char="●"/>
            </a:pPr>
            <a:r>
              <a:rPr lang="zh-CN" altLang="en-US" sz="120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在此背景下，如何重新聚焦你的研究问题？</a:t>
            </a:r>
            <a:endParaRPr lang="zh-CN" altLang="en-US" sz="1200" dirty="0">
              <a:solidFill>
                <a:srgbClr val="7F7F7F"/>
              </a:solidFill>
              <a:highlight>
                <a:srgbClr val="FFFFFF"/>
              </a:highlight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358513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6DE5D937-59EF-C7E9-CB62-C5BA2FD38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32c088a2287_0_149">
            <a:extLst>
              <a:ext uri="{FF2B5EF4-FFF2-40B4-BE49-F238E27FC236}">
                <a16:creationId xmlns:a16="http://schemas.microsoft.com/office/drawing/2014/main" id="{A6211304-CE29-F5DB-1908-4EBAEC38628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551" y="457937"/>
            <a:ext cx="663531" cy="552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32c088a2287_0_149">
            <a:extLst>
              <a:ext uri="{FF2B5EF4-FFF2-40B4-BE49-F238E27FC236}">
                <a16:creationId xmlns:a16="http://schemas.microsoft.com/office/drawing/2014/main" id="{DBB78CE4-8429-D88F-E281-D3E2CFD1B4B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44850" y="189817"/>
            <a:ext cx="1770422" cy="31342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2c088a2287_0_149">
            <a:extLst>
              <a:ext uri="{FF2B5EF4-FFF2-40B4-BE49-F238E27FC236}">
                <a16:creationId xmlns:a16="http://schemas.microsoft.com/office/drawing/2014/main" id="{1879ADEA-96CE-F6CF-3354-6A43FFD68440}"/>
              </a:ext>
            </a:extLst>
          </p:cNvPr>
          <p:cNvSpPr/>
          <p:nvPr/>
        </p:nvSpPr>
        <p:spPr>
          <a:xfrm>
            <a:off x="0" y="5047864"/>
            <a:ext cx="9144000" cy="104400"/>
          </a:xfrm>
          <a:prstGeom prst="rect">
            <a:avLst/>
          </a:prstGeom>
          <a:gradFill>
            <a:gsLst>
              <a:gs pos="0">
                <a:srgbClr val="DF02FC"/>
              </a:gs>
              <a:gs pos="50000">
                <a:srgbClr val="2E3BEE"/>
              </a:gs>
              <a:gs pos="100000">
                <a:srgbClr val="10E4DF"/>
              </a:gs>
            </a:gsLst>
            <a:lin ang="4800126" scaled="0"/>
          </a:gradFill>
          <a:ln>
            <a:noFill/>
          </a:ln>
          <a:effectLst>
            <a:outerShdw blurRad="241300" sx="102000" sy="102000" algn="ctr" rotWithShape="0">
              <a:srgbClr val="244AEC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</a:endParaRPr>
          </a:p>
        </p:txBody>
      </p:sp>
      <p:sp>
        <p:nvSpPr>
          <p:cNvPr id="4" name="Google Shape;95;p6">
            <a:extLst>
              <a:ext uri="{FF2B5EF4-FFF2-40B4-BE49-F238E27FC236}">
                <a16:creationId xmlns:a16="http://schemas.microsoft.com/office/drawing/2014/main" id="{78F98453-C705-20BB-21A0-346925223635}"/>
              </a:ext>
            </a:extLst>
          </p:cNvPr>
          <p:cNvSpPr txBox="1">
            <a:spLocks/>
          </p:cNvSpPr>
          <p:nvPr/>
        </p:nvSpPr>
        <p:spPr>
          <a:xfrm>
            <a:off x="937082" y="402094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5000"/>
              </a:lnSpc>
              <a:spcAft>
                <a:spcPts val="1200"/>
              </a:spcAft>
              <a:buClr>
                <a:schemeClr val="dk1"/>
              </a:buClr>
              <a:buSzPts val="1100"/>
            </a:pPr>
            <a:r>
              <a:rPr lang="en-US" altLang="zh-CN" sz="2800" b="1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Design/Method</a:t>
            </a:r>
            <a:endParaRPr lang="en-US" sz="2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96;p6">
            <a:extLst>
              <a:ext uri="{FF2B5EF4-FFF2-40B4-BE49-F238E27FC236}">
                <a16:creationId xmlns:a16="http://schemas.microsoft.com/office/drawing/2014/main" id="{1F9DC9E3-A5D4-1370-08AA-08FBF41072FE}"/>
              </a:ext>
            </a:extLst>
          </p:cNvPr>
          <p:cNvSpPr txBox="1">
            <a:spLocks/>
          </p:cNvSpPr>
          <p:nvPr/>
        </p:nvSpPr>
        <p:spPr>
          <a:xfrm>
            <a:off x="443850" y="1222450"/>
            <a:ext cx="8256300" cy="32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buClr>
                <a:schemeClr val="dk1"/>
              </a:buClr>
              <a:buSzPts val="800"/>
            </a:pPr>
            <a:r>
              <a:rPr lang="zh-CN" altLang="en-US" sz="120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指导问题：</a:t>
            </a:r>
          </a:p>
          <a:p>
            <a:pPr marL="171450" indent="-171450">
              <a:lnSpc>
                <a:spcPct val="150000"/>
              </a:lnSpc>
              <a:buClr>
                <a:schemeClr val="dk1"/>
              </a:buClr>
              <a:buSzPts val="800"/>
              <a:buFont typeface="Arial"/>
              <a:buChar char="●"/>
            </a:pPr>
            <a:r>
              <a:rPr lang="zh-CN" altLang="en-US" sz="120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使用了哪些资源（材料、软件、数据等）？</a:t>
            </a:r>
          </a:p>
          <a:p>
            <a:pPr marL="171450" indent="-171450">
              <a:lnSpc>
                <a:spcPct val="150000"/>
              </a:lnSpc>
              <a:buClr>
                <a:schemeClr val="dk1"/>
              </a:buClr>
              <a:buSzPts val="800"/>
              <a:buFont typeface="Arial"/>
              <a:buChar char="●"/>
            </a:pPr>
            <a:r>
              <a:rPr lang="zh-CN" altLang="en-US" sz="120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你采用了什么措施来收集样本信息或数据信息？</a:t>
            </a:r>
            <a:endParaRPr lang="zh-CN" altLang="en-US">
              <a:highlight>
                <a:srgbClr val="FFFFFF"/>
              </a:highlight>
            </a:endParaRPr>
          </a:p>
          <a:p>
            <a:pPr marL="171450" indent="-171450">
              <a:lnSpc>
                <a:spcPct val="150000"/>
              </a:lnSpc>
              <a:buClr>
                <a:schemeClr val="dk1"/>
              </a:buClr>
              <a:buSzPts val="800"/>
              <a:buFont typeface="Arial"/>
              <a:buChar char="●"/>
            </a:pPr>
            <a:r>
              <a:rPr lang="zh-CN" altLang="en-US" sz="120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你采用的分析方法（包括处理流、模型结构等）是什么？</a:t>
            </a:r>
          </a:p>
          <a:p>
            <a:pPr>
              <a:lnSpc>
                <a:spcPct val="150000"/>
              </a:lnSpc>
            </a:pPr>
            <a:endParaRPr lang="zh-CN" altLang="en-US" sz="1200" dirty="0">
              <a:solidFill>
                <a:srgbClr val="7F7F7F"/>
              </a:solidFill>
              <a:highlight>
                <a:srgbClr val="FFFFFF"/>
              </a:highlight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815894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0BED13F5-64B8-05AA-2AB0-5C7699A7D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32c088a2287_0_149">
            <a:extLst>
              <a:ext uri="{FF2B5EF4-FFF2-40B4-BE49-F238E27FC236}">
                <a16:creationId xmlns:a16="http://schemas.microsoft.com/office/drawing/2014/main" id="{711A3841-78F7-CA7E-DC48-92C4A236C50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551" y="457937"/>
            <a:ext cx="663531" cy="552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32c088a2287_0_149">
            <a:extLst>
              <a:ext uri="{FF2B5EF4-FFF2-40B4-BE49-F238E27FC236}">
                <a16:creationId xmlns:a16="http://schemas.microsoft.com/office/drawing/2014/main" id="{6873B2B5-F695-AFE7-73B2-712708EDB2B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44850" y="189817"/>
            <a:ext cx="1770422" cy="31342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2c088a2287_0_149">
            <a:extLst>
              <a:ext uri="{FF2B5EF4-FFF2-40B4-BE49-F238E27FC236}">
                <a16:creationId xmlns:a16="http://schemas.microsoft.com/office/drawing/2014/main" id="{54133628-36EF-ECB1-CFB0-74BCA8F75027}"/>
              </a:ext>
            </a:extLst>
          </p:cNvPr>
          <p:cNvSpPr/>
          <p:nvPr/>
        </p:nvSpPr>
        <p:spPr>
          <a:xfrm>
            <a:off x="0" y="5047864"/>
            <a:ext cx="9144000" cy="104400"/>
          </a:xfrm>
          <a:prstGeom prst="rect">
            <a:avLst/>
          </a:prstGeom>
          <a:gradFill>
            <a:gsLst>
              <a:gs pos="0">
                <a:srgbClr val="DF02FC"/>
              </a:gs>
              <a:gs pos="50000">
                <a:srgbClr val="2E3BEE"/>
              </a:gs>
              <a:gs pos="100000">
                <a:srgbClr val="10E4DF"/>
              </a:gs>
            </a:gsLst>
            <a:lin ang="4800126" scaled="0"/>
          </a:gradFill>
          <a:ln>
            <a:noFill/>
          </a:ln>
          <a:effectLst>
            <a:outerShdw blurRad="241300" sx="102000" sy="102000" algn="ctr" rotWithShape="0">
              <a:srgbClr val="244AEC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</a:endParaRPr>
          </a:p>
        </p:txBody>
      </p:sp>
      <p:sp>
        <p:nvSpPr>
          <p:cNvPr id="2" name="Google Shape;103;p7">
            <a:extLst>
              <a:ext uri="{FF2B5EF4-FFF2-40B4-BE49-F238E27FC236}">
                <a16:creationId xmlns:a16="http://schemas.microsoft.com/office/drawing/2014/main" id="{E228AC25-ED46-A7B5-9669-DCEB62410ABF}"/>
              </a:ext>
            </a:extLst>
          </p:cNvPr>
          <p:cNvSpPr txBox="1">
            <a:spLocks/>
          </p:cNvSpPr>
          <p:nvPr/>
        </p:nvSpPr>
        <p:spPr>
          <a:xfrm>
            <a:off x="937082" y="352658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5000"/>
              </a:lnSpc>
              <a:spcAft>
                <a:spcPts val="1200"/>
              </a:spcAft>
              <a:buClr>
                <a:schemeClr val="dk1"/>
              </a:buClr>
              <a:buSzPts val="1100"/>
            </a:pPr>
            <a:r>
              <a:rPr lang="en-US" altLang="zh-CN" sz="2800" b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lang="en-US" sz="2800" b="1" dirty="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04;p7">
            <a:extLst>
              <a:ext uri="{FF2B5EF4-FFF2-40B4-BE49-F238E27FC236}">
                <a16:creationId xmlns:a16="http://schemas.microsoft.com/office/drawing/2014/main" id="{3A45E350-E1BC-BD47-31C3-FA7D03693BC6}"/>
              </a:ext>
            </a:extLst>
          </p:cNvPr>
          <p:cNvSpPr txBox="1">
            <a:spLocks/>
          </p:cNvSpPr>
          <p:nvPr/>
        </p:nvSpPr>
        <p:spPr>
          <a:xfrm>
            <a:off x="443925" y="1177631"/>
            <a:ext cx="8256300" cy="30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buSzPts val="1800"/>
            </a:pPr>
            <a:r>
              <a:rPr lang="zh-CN" altLang="en-US" sz="120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指导问题：</a:t>
            </a:r>
          </a:p>
          <a:p>
            <a:pPr marL="171450" indent="-171450">
              <a:lnSpc>
                <a:spcPct val="150000"/>
              </a:lnSpc>
              <a:buClr>
                <a:schemeClr val="dk1"/>
              </a:buClr>
              <a:buSzPts val="800"/>
              <a:buFont typeface="Arial"/>
              <a:buChar char="●"/>
            </a:pPr>
            <a:r>
              <a:rPr lang="zh-CN" altLang="en-US" sz="120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研究的关键结果</a:t>
            </a:r>
            <a:r>
              <a:rPr lang="en-US" altLang="zh-CN" sz="120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/</a:t>
            </a:r>
            <a:r>
              <a:rPr lang="zh-CN" altLang="en-US" sz="120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图表有哪些？</a:t>
            </a:r>
          </a:p>
          <a:p>
            <a:pPr marL="171450" indent="-171450">
              <a:lnSpc>
                <a:spcPct val="150000"/>
              </a:lnSpc>
              <a:buClr>
                <a:schemeClr val="dk1"/>
              </a:buClr>
              <a:buSzPts val="800"/>
              <a:buFont typeface="Arial"/>
              <a:buChar char="●"/>
            </a:pPr>
            <a:r>
              <a:rPr lang="zh-CN" altLang="en-US" sz="120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对结果的解读或对应的解释有什么？</a:t>
            </a:r>
            <a:endParaRPr lang="zh-CN" altLang="en-US" sz="1200" dirty="0">
              <a:solidFill>
                <a:srgbClr val="7F7F7F"/>
              </a:solidFill>
              <a:highlight>
                <a:srgbClr val="FFFFFF"/>
              </a:highlight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762290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E0AC327F-9E03-84D5-939D-9CB246F1F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32c088a2287_0_149">
            <a:extLst>
              <a:ext uri="{FF2B5EF4-FFF2-40B4-BE49-F238E27FC236}">
                <a16:creationId xmlns:a16="http://schemas.microsoft.com/office/drawing/2014/main" id="{6BD5736C-B9A7-1E2C-E75A-BD008A753A2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551" y="457937"/>
            <a:ext cx="663531" cy="552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32c088a2287_0_149">
            <a:extLst>
              <a:ext uri="{FF2B5EF4-FFF2-40B4-BE49-F238E27FC236}">
                <a16:creationId xmlns:a16="http://schemas.microsoft.com/office/drawing/2014/main" id="{7DFC5418-2A0F-2785-BD48-190CBC2FAF9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44850" y="189817"/>
            <a:ext cx="1770422" cy="31342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2c088a2287_0_149">
            <a:extLst>
              <a:ext uri="{FF2B5EF4-FFF2-40B4-BE49-F238E27FC236}">
                <a16:creationId xmlns:a16="http://schemas.microsoft.com/office/drawing/2014/main" id="{A8577874-156E-E6F8-9FF1-EDF8A60B3513}"/>
              </a:ext>
            </a:extLst>
          </p:cNvPr>
          <p:cNvSpPr/>
          <p:nvPr/>
        </p:nvSpPr>
        <p:spPr>
          <a:xfrm>
            <a:off x="0" y="5047864"/>
            <a:ext cx="9144000" cy="104400"/>
          </a:xfrm>
          <a:prstGeom prst="rect">
            <a:avLst/>
          </a:prstGeom>
          <a:gradFill>
            <a:gsLst>
              <a:gs pos="0">
                <a:srgbClr val="DF02FC"/>
              </a:gs>
              <a:gs pos="50000">
                <a:srgbClr val="2E3BEE"/>
              </a:gs>
              <a:gs pos="100000">
                <a:srgbClr val="10E4DF"/>
              </a:gs>
            </a:gsLst>
            <a:lin ang="4800126" scaled="0"/>
          </a:gradFill>
          <a:ln>
            <a:noFill/>
          </a:ln>
          <a:effectLst>
            <a:outerShdw blurRad="241300" sx="102000" sy="102000" algn="ctr" rotWithShape="0">
              <a:srgbClr val="244AEC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</a:endParaRPr>
          </a:p>
        </p:txBody>
      </p:sp>
      <p:sp>
        <p:nvSpPr>
          <p:cNvPr id="5" name="Google Shape;111;p8">
            <a:extLst>
              <a:ext uri="{FF2B5EF4-FFF2-40B4-BE49-F238E27FC236}">
                <a16:creationId xmlns:a16="http://schemas.microsoft.com/office/drawing/2014/main" id="{DFBACA11-3CF6-4137-CBFA-44AD6C225DA5}"/>
              </a:ext>
            </a:extLst>
          </p:cNvPr>
          <p:cNvSpPr txBox="1">
            <a:spLocks/>
          </p:cNvSpPr>
          <p:nvPr/>
        </p:nvSpPr>
        <p:spPr>
          <a:xfrm>
            <a:off x="839527" y="380415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5000"/>
              </a:lnSpc>
              <a:spcAft>
                <a:spcPts val="1200"/>
              </a:spcAft>
              <a:buClr>
                <a:schemeClr val="dk1"/>
              </a:buClr>
              <a:buSzPts val="1100"/>
            </a:pPr>
            <a:r>
              <a:rPr lang="en-US" altLang="zh-CN" sz="2800" b="1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Discussion</a:t>
            </a:r>
            <a:endParaRPr lang="en-US" sz="2800" b="1" dirty="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Google Shape;114;p8">
            <a:extLst>
              <a:ext uri="{FF2B5EF4-FFF2-40B4-BE49-F238E27FC236}">
                <a16:creationId xmlns:a16="http://schemas.microsoft.com/office/drawing/2014/main" id="{5A166613-167C-997A-B34C-FEF33653A44D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>
              <a:lnSpc>
                <a:spcPct val="150000"/>
              </a:lnSpc>
              <a:buClr>
                <a:schemeClr val="dk1"/>
              </a:buClr>
              <a:buSzPts val="800"/>
            </a:pPr>
            <a:r>
              <a:rPr lang="zh-CN" altLang="en-US" sz="120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指导问题：</a:t>
            </a:r>
          </a:p>
          <a:p>
            <a:pPr marL="457200" indent="-342900">
              <a:lnSpc>
                <a:spcPct val="150000"/>
              </a:lnSpc>
              <a:buClr>
                <a:schemeClr val="dk1"/>
              </a:buClr>
              <a:buSzPts val="800"/>
              <a:buFont typeface="Arial"/>
              <a:buChar char="●"/>
            </a:pPr>
            <a:r>
              <a:rPr lang="zh-CN" altLang="en-US" sz="120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你的研究结果与之前的研究相比有何不同之处？</a:t>
            </a:r>
          </a:p>
          <a:p>
            <a:pPr marL="457200" indent="-342900">
              <a:lnSpc>
                <a:spcPct val="150000"/>
              </a:lnSpc>
              <a:buClr>
                <a:schemeClr val="dk1"/>
              </a:buClr>
              <a:buSzPts val="800"/>
              <a:buFont typeface="Arial"/>
              <a:buChar char="●"/>
            </a:pPr>
            <a:r>
              <a:rPr lang="zh-CN" altLang="en-US" sz="120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你的研究结果对于解决现实问题或应用于实际情境有何启示？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4215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51401CB4-1D07-67BC-C834-027D4CC19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32c088a2287_0_149">
            <a:extLst>
              <a:ext uri="{FF2B5EF4-FFF2-40B4-BE49-F238E27FC236}">
                <a16:creationId xmlns:a16="http://schemas.microsoft.com/office/drawing/2014/main" id="{EE9016C0-E3C4-F7D1-5CF5-A7B6C485C2D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551" y="457937"/>
            <a:ext cx="663531" cy="552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32c088a2287_0_149">
            <a:extLst>
              <a:ext uri="{FF2B5EF4-FFF2-40B4-BE49-F238E27FC236}">
                <a16:creationId xmlns:a16="http://schemas.microsoft.com/office/drawing/2014/main" id="{C8A89A19-8CB3-CE45-EF2F-1BD8163AEFB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44850" y="189817"/>
            <a:ext cx="1770422" cy="31342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2c088a2287_0_149">
            <a:extLst>
              <a:ext uri="{FF2B5EF4-FFF2-40B4-BE49-F238E27FC236}">
                <a16:creationId xmlns:a16="http://schemas.microsoft.com/office/drawing/2014/main" id="{74495A39-F3B7-DFF2-BE5E-D988E404B81E}"/>
              </a:ext>
            </a:extLst>
          </p:cNvPr>
          <p:cNvSpPr/>
          <p:nvPr/>
        </p:nvSpPr>
        <p:spPr>
          <a:xfrm>
            <a:off x="0" y="5047864"/>
            <a:ext cx="9144000" cy="104400"/>
          </a:xfrm>
          <a:prstGeom prst="rect">
            <a:avLst/>
          </a:prstGeom>
          <a:gradFill>
            <a:gsLst>
              <a:gs pos="0">
                <a:srgbClr val="DF02FC"/>
              </a:gs>
              <a:gs pos="50000">
                <a:srgbClr val="2E3BEE"/>
              </a:gs>
              <a:gs pos="100000">
                <a:srgbClr val="10E4DF"/>
              </a:gs>
            </a:gsLst>
            <a:lin ang="4800126" scaled="0"/>
          </a:gradFill>
          <a:ln>
            <a:noFill/>
          </a:ln>
          <a:effectLst>
            <a:outerShdw blurRad="241300" sx="102000" sy="102000" algn="ctr" rotWithShape="0">
              <a:srgbClr val="244AEC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</a:endParaRPr>
          </a:p>
        </p:txBody>
      </p:sp>
      <p:sp>
        <p:nvSpPr>
          <p:cNvPr id="2" name="Google Shape;119;p9">
            <a:extLst>
              <a:ext uri="{FF2B5EF4-FFF2-40B4-BE49-F238E27FC236}">
                <a16:creationId xmlns:a16="http://schemas.microsoft.com/office/drawing/2014/main" id="{FB131686-6CA9-A4D0-90CF-5D03524C7FC4}"/>
              </a:ext>
            </a:extLst>
          </p:cNvPr>
          <p:cNvSpPr txBox="1">
            <a:spLocks/>
          </p:cNvSpPr>
          <p:nvPr/>
        </p:nvSpPr>
        <p:spPr>
          <a:xfrm>
            <a:off x="839527" y="36098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5000"/>
              </a:lnSpc>
              <a:spcAft>
                <a:spcPts val="1200"/>
              </a:spcAft>
              <a:buClr>
                <a:schemeClr val="dk1"/>
              </a:buClr>
              <a:buSzPts val="1100"/>
            </a:pPr>
            <a:r>
              <a:rPr lang="en-US" altLang="zh-CN" sz="2800" b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lang="en-US" sz="2800" b="1" dirty="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22;p9">
            <a:extLst>
              <a:ext uri="{FF2B5EF4-FFF2-40B4-BE49-F238E27FC236}">
                <a16:creationId xmlns:a16="http://schemas.microsoft.com/office/drawing/2014/main" id="{A2BCDB13-4F33-636E-B88A-D654B83C2951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>
              <a:lnSpc>
                <a:spcPct val="150000"/>
              </a:lnSpc>
              <a:buClr>
                <a:schemeClr val="dk1"/>
              </a:buClr>
              <a:buSzPts val="800"/>
            </a:pPr>
            <a:r>
              <a:rPr lang="zh-CN" altLang="en-US" sz="120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指导问题：</a:t>
            </a:r>
          </a:p>
          <a:p>
            <a:pPr marL="457200" indent="-342900">
              <a:lnSpc>
                <a:spcPct val="150000"/>
              </a:lnSpc>
              <a:buClr>
                <a:schemeClr val="dk1"/>
              </a:buClr>
              <a:buSzPts val="800"/>
              <a:buFont typeface="Arial"/>
              <a:buChar char="●"/>
            </a:pPr>
            <a:r>
              <a:rPr lang="zh-CN" altLang="en-US" sz="120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根据你的研究结果，如何回答你最初的研究问题？</a:t>
            </a:r>
          </a:p>
          <a:p>
            <a:pPr marL="457200" indent="-342900">
              <a:lnSpc>
                <a:spcPct val="150000"/>
              </a:lnSpc>
              <a:buClr>
                <a:schemeClr val="dk1"/>
              </a:buClr>
              <a:buSzPts val="800"/>
              <a:buFont typeface="Arial"/>
              <a:buChar char="●"/>
            </a:pPr>
            <a:r>
              <a:rPr lang="zh-CN" altLang="en-US" sz="120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你的研究结果有何局限性？</a:t>
            </a:r>
          </a:p>
          <a:p>
            <a:pPr marL="457200" indent="-342900">
              <a:lnSpc>
                <a:spcPct val="150000"/>
              </a:lnSpc>
              <a:buClr>
                <a:schemeClr val="dk1"/>
              </a:buClr>
              <a:buSzPts val="800"/>
              <a:buFont typeface="Arial"/>
              <a:buChar char="●"/>
            </a:pPr>
            <a:r>
              <a:rPr lang="zh-CN" altLang="en-US" sz="120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你未来计划进行哪些进一步的研究以扩展或改进你的研究？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7832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11B12163-340A-CF3F-F195-640F2E5AF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32c088a2287_0_149">
            <a:extLst>
              <a:ext uri="{FF2B5EF4-FFF2-40B4-BE49-F238E27FC236}">
                <a16:creationId xmlns:a16="http://schemas.microsoft.com/office/drawing/2014/main" id="{178865C5-62D2-CD8D-719E-DC8641B47CD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551" y="457937"/>
            <a:ext cx="663531" cy="552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32c088a2287_0_149">
            <a:extLst>
              <a:ext uri="{FF2B5EF4-FFF2-40B4-BE49-F238E27FC236}">
                <a16:creationId xmlns:a16="http://schemas.microsoft.com/office/drawing/2014/main" id="{34B7F519-D4D5-6E81-B484-638FC3427E2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44850" y="189817"/>
            <a:ext cx="1770422" cy="31342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2c088a2287_0_149">
            <a:extLst>
              <a:ext uri="{FF2B5EF4-FFF2-40B4-BE49-F238E27FC236}">
                <a16:creationId xmlns:a16="http://schemas.microsoft.com/office/drawing/2014/main" id="{B4F97305-97CB-2CCC-E20D-CFFC5D8DFFFD}"/>
              </a:ext>
            </a:extLst>
          </p:cNvPr>
          <p:cNvSpPr/>
          <p:nvPr/>
        </p:nvSpPr>
        <p:spPr>
          <a:xfrm>
            <a:off x="0" y="5047864"/>
            <a:ext cx="9144000" cy="104400"/>
          </a:xfrm>
          <a:prstGeom prst="rect">
            <a:avLst/>
          </a:prstGeom>
          <a:gradFill>
            <a:gsLst>
              <a:gs pos="0">
                <a:srgbClr val="DF02FC"/>
              </a:gs>
              <a:gs pos="50000">
                <a:srgbClr val="2E3BEE"/>
              </a:gs>
              <a:gs pos="100000">
                <a:srgbClr val="10E4DF"/>
              </a:gs>
            </a:gsLst>
            <a:lin ang="4800126" scaled="0"/>
          </a:gradFill>
          <a:ln>
            <a:noFill/>
          </a:ln>
          <a:effectLst>
            <a:outerShdw blurRad="241300" sx="102000" sy="102000" algn="ctr" rotWithShape="0">
              <a:srgbClr val="244AEC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</a:endParaRPr>
          </a:p>
        </p:txBody>
      </p:sp>
      <p:sp>
        <p:nvSpPr>
          <p:cNvPr id="4" name="Google Shape;127;p10">
            <a:extLst>
              <a:ext uri="{FF2B5EF4-FFF2-40B4-BE49-F238E27FC236}">
                <a16:creationId xmlns:a16="http://schemas.microsoft.com/office/drawing/2014/main" id="{29889DCE-1AE7-EFFB-B70D-B22126664254}"/>
              </a:ext>
            </a:extLst>
          </p:cNvPr>
          <p:cNvSpPr txBox="1">
            <a:spLocks/>
          </p:cNvSpPr>
          <p:nvPr/>
        </p:nvSpPr>
        <p:spPr>
          <a:xfrm>
            <a:off x="937082" y="352084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5000"/>
              </a:lnSpc>
              <a:spcAft>
                <a:spcPts val="1200"/>
              </a:spcAft>
              <a:buClr>
                <a:schemeClr val="dk1"/>
              </a:buClr>
              <a:buSzPts val="1100"/>
            </a:pPr>
            <a:r>
              <a:rPr lang="en-US" altLang="zh-CN" sz="2800" b="1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lang="en-US" sz="2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128;p10">
            <a:extLst>
              <a:ext uri="{FF2B5EF4-FFF2-40B4-BE49-F238E27FC236}">
                <a16:creationId xmlns:a16="http://schemas.microsoft.com/office/drawing/2014/main" id="{05524B67-93FD-981B-9FDC-3CD70BCF28FF}"/>
              </a:ext>
            </a:extLst>
          </p:cNvPr>
          <p:cNvSpPr txBox="1">
            <a:spLocks/>
          </p:cNvSpPr>
          <p:nvPr/>
        </p:nvSpPr>
        <p:spPr>
          <a:xfrm>
            <a:off x="443925" y="1177631"/>
            <a:ext cx="8256300" cy="30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buClr>
                <a:schemeClr val="dk1"/>
              </a:buClr>
              <a:buSzPts val="800"/>
            </a:pPr>
            <a:r>
              <a:rPr lang="zh-CN" altLang="en-US" sz="1200" dirty="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指导问题：</a:t>
            </a:r>
          </a:p>
          <a:p>
            <a:pPr marL="171450" indent="-171450">
              <a:lnSpc>
                <a:spcPct val="150000"/>
              </a:lnSpc>
              <a:buClr>
                <a:schemeClr val="dk1"/>
              </a:buClr>
              <a:buSzPts val="800"/>
              <a:buFont typeface="Arial"/>
              <a:buChar char="●"/>
            </a:pPr>
            <a:r>
              <a:rPr lang="zh-CN" altLang="en-US" sz="1200" dirty="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罗列你的研究中主要涉及的文献和书目，和论文的参考文献格式一致。</a:t>
            </a:r>
          </a:p>
          <a:p>
            <a:pPr marL="171450" indent="-171450">
              <a:lnSpc>
                <a:spcPct val="150000"/>
              </a:lnSpc>
              <a:buClr>
                <a:schemeClr val="dk1"/>
              </a:buClr>
              <a:buSzPts val="800"/>
              <a:buFont typeface="Arial"/>
              <a:buChar char="●"/>
            </a:pPr>
            <a:r>
              <a:rPr lang="zh-CN" altLang="en-US" sz="1200" dirty="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你是否涵盖了</a:t>
            </a:r>
            <a:r>
              <a:rPr lang="en-US" altLang="zh-CN" sz="1200" dirty="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10</a:t>
            </a:r>
            <a:r>
              <a:rPr lang="zh-CN" altLang="en-US" sz="1200" dirty="0">
                <a:solidFill>
                  <a:srgbClr val="7F7F7F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篇左右该研究领域重要的文献或书目？</a:t>
            </a:r>
          </a:p>
          <a:p>
            <a:pPr marL="171450" indent="-120650">
              <a:lnSpc>
                <a:spcPct val="150000"/>
              </a:lnSpc>
              <a:buClr>
                <a:schemeClr val="dk1"/>
              </a:buClr>
              <a:buSzPts val="800"/>
            </a:pPr>
            <a:endParaRPr lang="zh-CN" altLang="en-US" sz="1200" dirty="0">
              <a:solidFill>
                <a:srgbClr val="7F7F7F"/>
              </a:solidFill>
              <a:highlight>
                <a:srgbClr val="FFFFFF"/>
              </a:highlight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894319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3977F-57C4-7A66-34C7-402C362B5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91242-D971-6E30-8B55-D97CD9F09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C6CFC-D46A-3CE0-9F0B-0DD6BCCD6C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pic>
        <p:nvPicPr>
          <p:cNvPr id="4" name="Google Shape;84;g32c088a2287_0_24">
            <a:extLst>
              <a:ext uri="{FF2B5EF4-FFF2-40B4-BE49-F238E27FC236}">
                <a16:creationId xmlns:a16="http://schemas.microsoft.com/office/drawing/2014/main" id="{2F9F0A34-85DB-BA02-B41C-7BD99C0E751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37;p11">
            <a:extLst>
              <a:ext uri="{FF2B5EF4-FFF2-40B4-BE49-F238E27FC236}">
                <a16:creationId xmlns:a16="http://schemas.microsoft.com/office/drawing/2014/main" id="{48F0AE4A-46D0-5EFC-AC77-EB31E3B37B25}"/>
              </a:ext>
            </a:extLst>
          </p:cNvPr>
          <p:cNvSpPr txBox="1">
            <a:spLocks/>
          </p:cNvSpPr>
          <p:nvPr/>
        </p:nvSpPr>
        <p:spPr>
          <a:xfrm>
            <a:off x="772988" y="1179750"/>
            <a:ext cx="7598100" cy="19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10000"/>
              </a:lnSpc>
              <a:buSzPts val="1100"/>
            </a:pPr>
            <a:r>
              <a:rPr lang="zh-CN" altLang="en-US" sz="6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感谢老师批评与指导</a:t>
            </a:r>
          </a:p>
          <a:p>
            <a:pPr algn="ctr">
              <a:lnSpc>
                <a:spcPct val="115000"/>
              </a:lnSpc>
              <a:buSzPts val="1100"/>
            </a:pPr>
            <a:r>
              <a:rPr lang="en-US" altLang="zh-CN" sz="1800">
                <a:solidFill>
                  <a:schemeClr val="lt1"/>
                </a:solidFill>
              </a:rPr>
              <a:t>Thank you for your constructive feedback!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6" name="Google Shape;138;p11">
            <a:extLst>
              <a:ext uri="{FF2B5EF4-FFF2-40B4-BE49-F238E27FC236}">
                <a16:creationId xmlns:a16="http://schemas.microsoft.com/office/drawing/2014/main" id="{69AD27BB-2B4C-4436-739A-7FA8EF1686A7}"/>
              </a:ext>
            </a:extLst>
          </p:cNvPr>
          <p:cNvSpPr txBox="1">
            <a:spLocks/>
          </p:cNvSpPr>
          <p:nvPr/>
        </p:nvSpPr>
        <p:spPr>
          <a:xfrm>
            <a:off x="1450199" y="3517101"/>
            <a:ext cx="6018300" cy="5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90000"/>
              </a:lnSpc>
              <a:buClr>
                <a:schemeClr val="lt1"/>
              </a:buClr>
              <a:buSzPct val="64285"/>
              <a:buFont typeface="Arial"/>
              <a:buNone/>
            </a:pPr>
            <a:r>
              <a:rPr lang="en-US" altLang="zh-CN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Name</a:t>
            </a:r>
            <a:r>
              <a:rPr lang="zh-CN" altLang="en-US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：</a:t>
            </a:r>
            <a:r>
              <a:rPr lang="en-US" altLang="zh-CN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______   Research Advisor</a:t>
            </a:r>
            <a:r>
              <a:rPr lang="zh-CN" altLang="en-US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：</a:t>
            </a:r>
            <a:r>
              <a:rPr lang="en-US" altLang="zh-CN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______</a:t>
            </a: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5422062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528</Words>
  <Application>Microsoft Macintosh PowerPoint</Application>
  <PresentationFormat>On-screen Show (16:9)</PresentationFormat>
  <Paragraphs>61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Microsoft Yahei</vt:lpstr>
      <vt:lpstr>Microsoft Yahei</vt:lpstr>
      <vt:lpstr>Arial</vt:lpstr>
      <vt:lpstr>Times New Roman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微软</cp:lastModifiedBy>
  <cp:revision>2</cp:revision>
  <dcterms:modified xsi:type="dcterms:W3CDTF">2025-01-20T15:06:25Z</dcterms:modified>
</cp:coreProperties>
</file>