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6" r:id="rId11"/>
    <p:sldId id="27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hl3dM39KmqCJDCRUKLUoD6LeRS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60"/>
    <p:restoredTop sz="94669"/>
  </p:normalViewPr>
  <p:slideViewPr>
    <p:cSldViewPr snapToGrid="0">
      <p:cViewPr>
        <p:scale>
          <a:sx n="94" d="100"/>
          <a:sy n="94" d="100"/>
        </p:scale>
        <p:origin x="392" y="5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zh-C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6B86AAA-6A67-C021-DA1C-CC8757FBD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6C06B197-2AFD-C74C-A83F-85913AA7D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27EF4AC8-A2FC-D33E-E0E6-670086EEF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9695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08DF472-53A3-B8AD-F8D4-1925E502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A2398E05-9182-8DEC-6675-1959E9589C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108B4080-0379-861D-4A91-8F76BF515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4952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877D0A6-A698-EEB4-B700-8805EF32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EE5D5315-48F9-D976-509F-952D306CC0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541A688B-0FB3-DDA2-CA46-F2D3F0722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6610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3DA1F025-8A02-5850-7FA3-C24A1701B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8D5BA1EF-EF7D-B923-89E7-3BE14DB607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9B0540B8-F561-918E-7773-061AE9C1D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324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FD73DD26-49D1-CED4-79AA-1BA5A3F2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421C70D8-A454-B0C7-90FE-8F99C28F1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1A855C80-123E-375A-EA56-854BAC617E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3921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938B0EEC-53A2-B20A-0A89-87424DCE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59A41CB5-04FE-9B85-EDA6-D151F6EFF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05C63ADC-929A-9F12-FD63-C2E810E33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33137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CDD8F6D-DB52-4A1F-744C-CB305D1B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B87ABF9F-0382-CF22-629E-006DE380EC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5900B44C-4F0D-CACA-B291-B072E4D63E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8979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>
  <p:cSld name="两栏内容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776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/>
          <p:nvPr/>
        </p:nvSpPr>
        <p:spPr>
          <a:xfrm>
            <a:off x="946997" y="666180"/>
            <a:ext cx="934200" cy="3093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zh-CN" sz="3200" b="1" i="0" u="none" strike="noStrike" cap="non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答辩汇报模板</a:t>
            </a:r>
            <a:endParaRPr sz="30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486020" y="508451"/>
            <a:ext cx="8171960" cy="402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635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CN" sz="2000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使用说明</a:t>
            </a:r>
            <a:endParaRPr sz="2000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PPT均采用英文制作，每位同学15分钟，英文口头+PPT汇报10分钟，中英文点评及提问5分钟左右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建议字体：Times New Roman；字号不小于12号字；行间距：1.15。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格式建议:使用清晰简明的短语，不要出现大段冗长的文字，必要时使用图表、示意图和流程图呈现</a:t>
            </a:r>
            <a:endParaRPr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建议</a:t>
            </a:r>
            <a:r>
              <a:rPr lang="zh-CN" altLang="en-US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终期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汇报包含以下内容：</a:t>
            </a:r>
            <a:endParaRPr lang="en-US" altLang="zh-CN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标题页/Title（1页）</a:t>
            </a:r>
            <a:endParaRPr b="1" i="0" u="none" strike="noStrike" cap="none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研究问题/Research Question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（1页）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研究背景/Background（1页）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文献综述/Literature Review（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1-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研究设计或方法/Research Design/Method（2-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页） </a:t>
            </a: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研究结果/Results（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2-4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研究讨论或结论/Discussion/Conclusion（ 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参考文献/ References（1页）</a:t>
            </a:r>
            <a:endParaRPr sz="1600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6028450" y="4750289"/>
            <a:ext cx="29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CN" sz="1400" b="0" i="0" u="none" strike="noStrike" cap="none">
                <a:solidFill>
                  <a:srgbClr val="7F7F7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*在提交答辩汇报PPT前请删除此页</a:t>
            </a:r>
            <a:endParaRPr sz="1400" b="0" i="0" u="none" strike="noStrike" cap="non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86821-18BB-8FF5-A7D9-C40BA7DE7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17E4D-26BC-1976-5B0A-078CD0E5A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Google Shape;84;g32c088a2287_0_24">
            <a:extLst>
              <a:ext uri="{FF2B5EF4-FFF2-40B4-BE49-F238E27FC236}">
                <a16:creationId xmlns:a16="http://schemas.microsoft.com/office/drawing/2014/main" id="{8712D784-455E-07AE-CB40-AC78A6FFB11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66;p2">
            <a:extLst>
              <a:ext uri="{FF2B5EF4-FFF2-40B4-BE49-F238E27FC236}">
                <a16:creationId xmlns:a16="http://schemas.microsoft.com/office/drawing/2014/main" id="{985BD474-DCBE-5C4C-EDCC-6D362550DA86}"/>
              </a:ext>
            </a:extLst>
          </p:cNvPr>
          <p:cNvSpPr txBox="1">
            <a:spLocks/>
          </p:cNvSpPr>
          <p:nvPr/>
        </p:nvSpPr>
        <p:spPr>
          <a:xfrm>
            <a:off x="1482856" y="3582416"/>
            <a:ext cx="6018300" cy="446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buClr>
                <a:schemeClr val="lt1"/>
              </a:buClr>
              <a:buSzPct val="64285"/>
              <a:buFont typeface="Arial"/>
              <a:buNone/>
            </a:pP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 Name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 Yunhan     Research Advisor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Google Shape;65;p2">
            <a:extLst>
              <a:ext uri="{FF2B5EF4-FFF2-40B4-BE49-F238E27FC236}">
                <a16:creationId xmlns:a16="http://schemas.microsoft.com/office/drawing/2014/main" id="{030A8F28-C5E7-1DE0-293C-CF3F0DC26EAE}"/>
              </a:ext>
            </a:extLst>
          </p:cNvPr>
          <p:cNvSpPr txBox="1">
            <a:spLocks/>
          </p:cNvSpPr>
          <p:nvPr/>
        </p:nvSpPr>
        <p:spPr>
          <a:xfrm>
            <a:off x="772988" y="1179750"/>
            <a:ext cx="7598100" cy="19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115000"/>
              </a:lnSpc>
              <a:buClr>
                <a:schemeClr val="lt1"/>
              </a:buClr>
              <a:buSzPts val="4500"/>
              <a:buFont typeface="Microsoft YaHei"/>
              <a:buNone/>
            </a:pPr>
            <a:r>
              <a:rPr lang="en-US" altLang="zh-CN" sz="43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Mayor Climate Game: A Browser-Based Prototype for Teaching Urban Energy and Ventilation Tradeoffs</a:t>
            </a:r>
            <a:endParaRPr lang="en-US" sz="43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80748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/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2" name="Google Shape;71;p3">
            <a:extLst>
              <a:ext uri="{FF2B5EF4-FFF2-40B4-BE49-F238E27FC236}">
                <a16:creationId xmlns:a16="http://schemas.microsoft.com/office/drawing/2014/main" id="{40ED20B2-DF1C-011D-2B10-8F9EDB7C899C}"/>
              </a:ext>
            </a:extLst>
          </p:cNvPr>
          <p:cNvSpPr txBox="1">
            <a:spLocks/>
          </p:cNvSpPr>
          <p:nvPr/>
        </p:nvSpPr>
        <p:spPr>
          <a:xfrm>
            <a:off x="937082" y="37257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Question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72;p3">
            <a:extLst>
              <a:ext uri="{FF2B5EF4-FFF2-40B4-BE49-F238E27FC236}">
                <a16:creationId xmlns:a16="http://schemas.microsoft.com/office/drawing/2014/main" id="{DD077B0F-A159-E9E5-28ED-B004E264856A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Scope: browser serious game teaching urban energy layout and post-play learning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RQ: How does Mayor Climate Game shape facility choices and understanding of budget–carbon–ventilation tradeoffs?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Hypothesis: after one round with live metrics, participants avoid coal on ventilation-sensitive cells and answer the ventilation rule correctly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C5D6474-9BC1-2A51-75C4-AD9FCB96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2ABCBCAD-83F4-8FBA-93CC-9CF7C9AFAC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3EBE7A58-0D9B-C587-D788-D0FFA621D0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B8A299CD-1EAA-5E86-6640-7F23A8EFB4AC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4" name="Google Shape;79;p4">
            <a:extLst>
              <a:ext uri="{FF2B5EF4-FFF2-40B4-BE49-F238E27FC236}">
                <a16:creationId xmlns:a16="http://schemas.microsoft.com/office/drawing/2014/main" id="{6795C406-0678-20A2-1992-673199EF2BDE}"/>
              </a:ext>
            </a:extLst>
          </p:cNvPr>
          <p:cNvSpPr txBox="1">
            <a:spLocks/>
          </p:cNvSpPr>
          <p:nvPr/>
        </p:nvSpPr>
        <p:spPr>
          <a:xfrm>
            <a:off x="937082" y="372573"/>
            <a:ext cx="430836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Background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80;p4">
            <a:extLst>
              <a:ext uri="{FF2B5EF4-FFF2-40B4-BE49-F238E27FC236}">
                <a16:creationId xmlns:a16="http://schemas.microsoft.com/office/drawing/2014/main" id="{1D4A92B5-E4E6-7369-B9BB-5657D4694185}"/>
              </a:ext>
            </a:extLst>
          </p:cNvPr>
          <p:cNvSpPr txBox="1">
            <a:spLocks/>
          </p:cNvSpPr>
          <p:nvPr/>
        </p:nvSpPr>
        <p:spPr>
          <a:xfrm>
            <a:off x="443850" y="100568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Cities face rising heat, cooling-related energy demand, and emissions pressure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Urban ventilation corridors help when energy siting respects airflow pathways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Professional CFD/WRF/GIS tools are powerful but hard for non-expert learners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games offer immediate feedback and automatically logged behavioral choices</a:t>
            </a:r>
          </a:p>
        </p:txBody>
      </p:sp>
    </p:spTree>
    <p:extLst>
      <p:ext uri="{BB962C8B-B14F-4D97-AF65-F5344CB8AC3E}">
        <p14:creationId xmlns:p14="http://schemas.microsoft.com/office/powerpoint/2010/main" val="255598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E17BD24-770A-9F01-DCD7-BAA36839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AFFE41FC-B676-BB9B-11F4-96A00E6499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0C6A5B72-997F-5378-4D01-63098AD3A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D29A0B1D-1DBA-10B3-BC61-6F816666C975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2" name="Google Shape;87;p5">
            <a:extLst>
              <a:ext uri="{FF2B5EF4-FFF2-40B4-BE49-F238E27FC236}">
                <a16:creationId xmlns:a16="http://schemas.microsoft.com/office/drawing/2014/main" id="{859424DA-9C1F-71CD-B4F9-71803A231ED8}"/>
              </a:ext>
            </a:extLst>
          </p:cNvPr>
          <p:cNvSpPr txBox="1">
            <a:spLocks/>
          </p:cNvSpPr>
          <p:nvPr/>
        </p:nvSpPr>
        <p:spPr>
          <a:xfrm>
            <a:off x="857020" y="372711"/>
            <a:ext cx="784313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88;p5">
            <a:extLst>
              <a:ext uri="{FF2B5EF4-FFF2-40B4-BE49-F238E27FC236}">
                <a16:creationId xmlns:a16="http://schemas.microsoft.com/office/drawing/2014/main" id="{2F947193-1FE7-3F00-FF8E-14BE505AFFC4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IEA (2023): rising cooling demand and sustainable cooling policy context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Zheng et al. (2022); Guan et al. (2015): urban ventilation corridors and siting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games can reveal preferences through logged choices (Neighbourhood Game, 2019)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Gap: few classroom-ready browser tools combine play, metrics, and research logging</a:t>
            </a:r>
          </a:p>
        </p:txBody>
      </p:sp>
    </p:spTree>
    <p:extLst>
      <p:ext uri="{BB962C8B-B14F-4D97-AF65-F5344CB8AC3E}">
        <p14:creationId xmlns:p14="http://schemas.microsoft.com/office/powerpoint/2010/main" val="1358513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6DE5D937-59EF-C7E9-CB62-C5BA2FD3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A6211304-CE29-F5DB-1908-4EBAEC3862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DBB78CE4-8429-D88F-E281-D3E2CFD1B4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1879ADEA-96CE-F6CF-3354-6A43FFD68440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4" name="Google Shape;95;p6">
            <a:extLst>
              <a:ext uri="{FF2B5EF4-FFF2-40B4-BE49-F238E27FC236}">
                <a16:creationId xmlns:a16="http://schemas.microsoft.com/office/drawing/2014/main" id="{78F98453-C705-20BB-21A0-346925223635}"/>
              </a:ext>
            </a:extLst>
          </p:cNvPr>
          <p:cNvSpPr txBox="1">
            <a:spLocks/>
          </p:cNvSpPr>
          <p:nvPr/>
        </p:nvSpPr>
        <p:spPr>
          <a:xfrm>
            <a:off x="937082" y="402094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Design/Method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96;p6">
            <a:extLst>
              <a:ext uri="{FF2B5EF4-FFF2-40B4-BE49-F238E27FC236}">
                <a16:creationId xmlns:a16="http://schemas.microsoft.com/office/drawing/2014/main" id="{1F9DC9E3-A5D4-1370-08AA-08FBF41072FE}"/>
              </a:ext>
            </a:extLst>
          </p:cNvPr>
          <p:cNvSpPr txBox="1">
            <a:spLocks/>
          </p:cNvSpPr>
          <p:nvPr/>
        </p:nvSpPr>
        <p:spPr>
          <a:xfrm>
            <a:off x="443850" y="1222450"/>
            <a:ext cx="8256300" cy="3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Artifact: Vercel-hosted 12×12 grid game; CNY 10M budget; coal / wind / ground-source heat pump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Sample: N = 10 sessions (7 TXT exports + 3 pilot logs), July 2026, one round each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Measures: 2 post-play survey items + final score, carbon (t CO₂e), and layout JSON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Analysis: descriptive coding from session logs; rule-based microclimate model (not CFD)</a:t>
            </a:r>
          </a:p>
        </p:txBody>
      </p:sp>
    </p:spTree>
    <p:extLst>
      <p:ext uri="{BB962C8B-B14F-4D97-AF65-F5344CB8AC3E}">
        <p14:creationId xmlns:p14="http://schemas.microsoft.com/office/powerpoint/2010/main" val="815894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0BED13F5-64B8-05AA-2AB0-5C7699A7D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711A3841-78F7-CA7E-DC48-92C4A236C50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6873B2B5-F695-AFE7-73B2-712708EDB2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54133628-36EF-ECB1-CFB0-74BCA8F75027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2" name="Google Shape;103;p7">
            <a:extLst>
              <a:ext uri="{FF2B5EF4-FFF2-40B4-BE49-F238E27FC236}">
                <a16:creationId xmlns:a16="http://schemas.microsoft.com/office/drawing/2014/main" id="{E228AC25-ED46-A7B5-9669-DCEB62410ABF}"/>
              </a:ext>
            </a:extLst>
          </p:cNvPr>
          <p:cNvSpPr txBox="1">
            <a:spLocks/>
          </p:cNvSpPr>
          <p:nvPr/>
        </p:nvSpPr>
        <p:spPr>
          <a:xfrm>
            <a:off x="937082" y="352658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04;p7">
            <a:extLst>
              <a:ext uri="{FF2B5EF4-FFF2-40B4-BE49-F238E27FC236}">
                <a16:creationId xmlns:a16="http://schemas.microsoft.com/office/drawing/2014/main" id="{3A45E350-E1BC-BD47-31C3-FA7D03693BC6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10/10 answered the ventilation item correctly; 8/10 reported choosing coal to save budget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0/10 placed coal on wind outlets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Score range 51–88 (mean ≈ 80.2); carbon 0–1440 t (mean ≈ 273)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Pattern: lower carbon (0–120 t, n=7) → scores 84–88; higher carbon (240–1440 t, n=3) → scores 51–81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Live demo: mayor-climate-game.vercel.app</a:t>
            </a:r>
          </a:p>
        </p:txBody>
      </p:sp>
    </p:spTree>
    <p:extLst>
      <p:ext uri="{BB962C8B-B14F-4D97-AF65-F5344CB8AC3E}">
        <p14:creationId xmlns:p14="http://schemas.microsoft.com/office/powerpoint/2010/main" val="76229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0AC327F-9E03-84D5-939D-9CB246F1F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6BD5736C-B9A7-1E2C-E75A-BD008A753A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7DFC5418-2A0F-2785-BD48-190CBC2FAF9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A8577874-156E-E6F8-9FF1-EDF8A60B3513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5" name="Google Shape;111;p8">
            <a:extLst>
              <a:ext uri="{FF2B5EF4-FFF2-40B4-BE49-F238E27FC236}">
                <a16:creationId xmlns:a16="http://schemas.microsoft.com/office/drawing/2014/main" id="{DFBACA11-3CF6-4137-CBFA-44AD6C225DA5}"/>
              </a:ext>
            </a:extLst>
          </p:cNvPr>
          <p:cNvSpPr txBox="1">
            <a:spLocks/>
          </p:cNvSpPr>
          <p:nvPr/>
        </p:nvSpPr>
        <p:spPr>
          <a:xfrm>
            <a:off x="839527" y="380415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" name="Google Shape;114;p8">
            <a:extLst>
              <a:ext uri="{FF2B5EF4-FFF2-40B4-BE49-F238E27FC236}">
                <a16:creationId xmlns:a16="http://schemas.microsoft.com/office/drawing/2014/main" id="{5A166613-167C-997A-B34C-FEF33653A44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Findings partially support the hypothesis: strong ventilation knowledge; no coal on outlets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Budget pressure remains salient (8/10), yet 2/10 chose zero-coal wind layouts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Carbon outcomes vary sharply by facility mix—not by stated budget motivation alone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Short browser sessions can make cost–carbon–ventilation tradeoffs visible to learners</a:t>
            </a:r>
          </a:p>
        </p:txBody>
      </p:sp>
    </p:spTree>
    <p:extLst>
      <p:ext uri="{BB962C8B-B14F-4D97-AF65-F5344CB8AC3E}">
        <p14:creationId xmlns:p14="http://schemas.microsoft.com/office/powerpoint/2010/main" val="2244215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1401CB4-1D07-67BC-C834-027D4CC19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EE9016C0-E3C4-F7D1-5CF5-A7B6C485C2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C8A89A19-8CB3-CE45-EF2F-1BD8163AEF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74495A39-F3B7-DFF2-BE5E-D988E404B81E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2" name="Google Shape;119;p9">
            <a:extLst>
              <a:ext uri="{FF2B5EF4-FFF2-40B4-BE49-F238E27FC236}">
                <a16:creationId xmlns:a16="http://schemas.microsoft.com/office/drawing/2014/main" id="{FB131686-6CA9-A4D0-90CF-5D03524C7FC4}"/>
              </a:ext>
            </a:extLst>
          </p:cNvPr>
          <p:cNvSpPr txBox="1">
            <a:spLocks/>
          </p:cNvSpPr>
          <p:nvPr/>
        </p:nvSpPr>
        <p:spPr>
          <a:xfrm>
            <a:off x="839527" y="360986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22;p9">
            <a:extLst>
              <a:ext uri="{FF2B5EF4-FFF2-40B4-BE49-F238E27FC236}">
                <a16:creationId xmlns:a16="http://schemas.microsoft.com/office/drawing/2014/main" id="{A2BCDB13-4F33-636E-B88A-D654B83C295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Answer to RQ: the game supports declarative ventilation understanding and safer siting behavior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Limitations: N=10, simplified rule-based model, exploratory pilot—not confirmatory evidence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Future work: pre-register outcomes, expand sample size, test alternative advisory conditions</a:t>
            </a:r>
          </a:p>
        </p:txBody>
      </p:sp>
    </p:spTree>
    <p:extLst>
      <p:ext uri="{BB962C8B-B14F-4D97-AF65-F5344CB8AC3E}">
        <p14:creationId xmlns:p14="http://schemas.microsoft.com/office/powerpoint/2010/main" val="3477832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1B12163-340A-CF3F-F195-640F2E5A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178865C5-62D2-CD8D-719E-DC8641B47C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34B7F519-D4D5-6E81-B484-638FC3427E2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B4F97305-97CB-2CCC-E20D-CFFC5D8DFFFD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lt1"/>
              </a:solidFill>
            </a:endParaRPr>
          </a:p>
        </p:txBody>
      </p:sp>
      <p:sp>
        <p:nvSpPr>
          <p:cNvPr id="4" name="Google Shape;127;p10">
            <a:extLst>
              <a:ext uri="{FF2B5EF4-FFF2-40B4-BE49-F238E27FC236}">
                <a16:creationId xmlns:a16="http://schemas.microsoft.com/office/drawing/2014/main" id="{29889DCE-1AE7-EFFB-B70D-B22126664254}"/>
              </a:ext>
            </a:extLst>
          </p:cNvPr>
          <p:cNvSpPr txBox="1">
            <a:spLocks/>
          </p:cNvSpPr>
          <p:nvPr/>
        </p:nvSpPr>
        <p:spPr>
          <a:xfrm>
            <a:off x="937082" y="352084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128;p10">
            <a:extLst>
              <a:ext uri="{FF2B5EF4-FFF2-40B4-BE49-F238E27FC236}">
                <a16:creationId xmlns:a16="http://schemas.microsoft.com/office/drawing/2014/main" id="{05524B67-93FD-981B-9FDC-3CD70BCF28FF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IEA (2023). Staying Cool / Sustainable Cooling outlook reports.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Zheng, Y., et al. (2022). Review of urban ventilation corridors.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Guan, T., et al. (2015). Guiyang urban ventilation environment analysis.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 for neighbourhood energy choices (2019).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Full references: github.com/HYH-SZ/mayor-climate-game (paper.pdf)</a:t>
            </a:r>
          </a:p>
        </p:txBody>
      </p:sp>
    </p:spTree>
    <p:extLst>
      <p:ext uri="{BB962C8B-B14F-4D97-AF65-F5344CB8AC3E}">
        <p14:creationId xmlns:p14="http://schemas.microsoft.com/office/powerpoint/2010/main" val="894319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3977F-57C4-7A66-34C7-402C362B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1242-D971-6E30-8B55-D97CD9F09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C6CFC-D46A-3CE0-9F0B-0DD6BCCD6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Google Shape;84;g32c088a2287_0_24">
            <a:extLst>
              <a:ext uri="{FF2B5EF4-FFF2-40B4-BE49-F238E27FC236}">
                <a16:creationId xmlns:a16="http://schemas.microsoft.com/office/drawing/2014/main" id="{2F9F0A34-85DB-BA02-B41C-7BD99C0E751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7;p11">
            <a:extLst>
              <a:ext uri="{FF2B5EF4-FFF2-40B4-BE49-F238E27FC236}">
                <a16:creationId xmlns:a16="http://schemas.microsoft.com/office/drawing/2014/main" id="{48F0AE4A-46D0-5EFC-AC77-EB31E3B37B25}"/>
              </a:ext>
            </a:extLst>
          </p:cNvPr>
          <p:cNvSpPr txBox="1">
            <a:spLocks/>
          </p:cNvSpPr>
          <p:nvPr/>
        </p:nvSpPr>
        <p:spPr>
          <a:xfrm>
            <a:off x="772988" y="1179750"/>
            <a:ext cx="7598100" cy="19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110000"/>
              </a:lnSpc>
              <a:buSzPts val="1100"/>
            </a:pPr>
            <a:r>
              <a:rPr lang="zh-CN" altLang="en-US" sz="6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感谢老师批评与指导</a:t>
            </a:r>
          </a:p>
          <a:p>
            <a:pPr algn="ctr">
              <a:lnSpc>
                <a:spcPct val="115000"/>
              </a:lnSpc>
              <a:buSzPts val="1100"/>
            </a:pPr>
            <a:r>
              <a:rPr lang="en-US" altLang="zh-CN" sz="1800">
                <a:solidFill>
                  <a:schemeClr val="lt1"/>
                </a:solidFill>
              </a:rPr>
              <a:t>Thank you for your constructive feedback!</a:t>
            </a:r>
            <a:endParaRPr lang="en-US" sz="1800" dirty="0">
              <a:solidFill>
                <a:srgbClr val="FFFFFF"/>
              </a:solidFill>
            </a:endParaRPr>
          </a:p>
        </p:txBody>
      </p:sp>
      <p:sp>
        <p:nvSpPr>
          <p:cNvPr id="6" name="Google Shape;138;p11">
            <a:extLst>
              <a:ext uri="{FF2B5EF4-FFF2-40B4-BE49-F238E27FC236}">
                <a16:creationId xmlns:a16="http://schemas.microsoft.com/office/drawing/2014/main" id="{69AD27BB-2B4C-4436-739A-7FA8EF1686A7}"/>
              </a:ext>
            </a:extLst>
          </p:cNvPr>
          <p:cNvSpPr txBox="1">
            <a:spLocks/>
          </p:cNvSpPr>
          <p:nvPr/>
        </p:nvSpPr>
        <p:spPr>
          <a:xfrm>
            <a:off x="1450199" y="3517101"/>
            <a:ext cx="6018300" cy="5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buClr>
                <a:schemeClr val="lt1"/>
              </a:buClr>
              <a:buSzPct val="64285"/>
              <a:buFont typeface="Arial"/>
              <a:buNone/>
            </a:pP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 Yunhan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   Research Advisor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422062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528</Words>
  <Application>Microsoft Macintosh PowerPoint</Application>
  <PresentationFormat>On-screen Show (16:9)</PresentationFormat>
  <Paragraphs>61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Microsoft Yahei</vt:lpstr>
      <vt:lpstr>Microsoft Yahei</vt:lpstr>
      <vt:lpstr>Arial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微软</cp:lastModifiedBy>
  <cp:revision>2</cp:revision>
  <dcterms:modified xsi:type="dcterms:W3CDTF">2025-01-20T15:06:25Z</dcterms:modified>
</cp:coreProperties>
</file>