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4F8FB"/>
        </a:solidFill>
      </p:bgPr>
    </p:bg>
    <p:spTree>
      <p:nvGrpSpPr>
        <p:cNvPr id="1" name=""/>
        <p:cNvGrpSpPr/>
        <p:nvPr/>
      </p:nvGrpSpPr>
      <p:grpSpPr>
        <a:xfrm>
          <a:off x="0" y="0"/>
          <a:ext cx="0" cy="0"/>
          <a:chOff x="0" y="0"/>
          <a:chExt cx="0" cy="0"/>
        </a:xfrm>
      </p:grpSpPr>
      <p:sp>
        <p:nvSpPr>
          <p:cNvPr id="2" name="Text 0"/>
          <p:cNvSpPr/>
          <p:nvPr/>
        </p:nvSpPr>
        <p:spPr>
          <a:xfrm>
            <a:off x="1005840" y="1874520"/>
            <a:ext cx="10149840" cy="640080"/>
          </a:xfrm>
          <a:prstGeom prst="rect">
            <a:avLst/>
          </a:prstGeom>
          <a:noFill/>
          <a:ln/>
        </p:spPr>
        <p:txBody>
          <a:bodyPr wrap="square" lIns="0" tIns="0" rIns="0" bIns="0" rtlCol="0" anchor="ctr"/>
          <a:lstStyle/>
          <a:p>
            <a:pPr algn="ctr" indent="0" marL="0">
              <a:buNone/>
            </a:pPr>
            <a:r>
              <a:rPr lang="en-US" sz="3400" b="1" dirty="0">
                <a:solidFill>
                  <a:srgbClr val="173B5F"/>
                </a:solidFill>
                <a:latin typeface="Times New Roman" pitchFamily="34" charset="0"/>
                <a:ea typeface="Times New Roman" pitchFamily="34" charset="-122"/>
                <a:cs typeface="Times New Roman" pitchFamily="34" charset="-120"/>
              </a:rPr>
              <a:t>Mayor Climate Game</a:t>
            </a:r>
            <a:endParaRPr lang="en-US" sz="3400" dirty="0"/>
          </a:p>
        </p:txBody>
      </p:sp>
      <p:sp>
        <p:nvSpPr>
          <p:cNvPr id="3" name="Shape 1"/>
          <p:cNvSpPr/>
          <p:nvPr/>
        </p:nvSpPr>
        <p:spPr>
          <a:xfrm>
            <a:off x="2834640" y="2743200"/>
            <a:ext cx="6492240" cy="0"/>
          </a:xfrm>
          <a:prstGeom prst="line">
            <a:avLst/>
          </a:prstGeom>
          <a:noFill/>
          <a:ln w="25400">
            <a:solidFill>
              <a:srgbClr val="2D6A9F"/>
            </a:solidFill>
            <a:prstDash val="solid"/>
          </a:ln>
        </p:spPr>
      </p:sp>
      <p:sp>
        <p:nvSpPr>
          <p:cNvPr id="4" name="Text 2"/>
          <p:cNvSpPr/>
          <p:nvPr/>
        </p:nvSpPr>
        <p:spPr>
          <a:xfrm>
            <a:off x="2011680" y="3063240"/>
            <a:ext cx="8138160" cy="822960"/>
          </a:xfrm>
          <a:prstGeom prst="rect">
            <a:avLst/>
          </a:prstGeom>
          <a:noFill/>
          <a:ln/>
        </p:spPr>
        <p:txBody>
          <a:bodyPr wrap="square" lIns="0" tIns="0" rIns="0" bIns="0" rtlCol="0" anchor="ctr"/>
          <a:lstStyle/>
          <a:p>
            <a:pPr algn="ctr" indent="0" marL="0">
              <a:lnSpc>
                <a:spcPct val="115000"/>
              </a:lnSpc>
              <a:buNone/>
            </a:pPr>
            <a:r>
              <a:rPr lang="en-US" sz="1800" dirty="0">
                <a:solidFill>
                  <a:srgbClr val="5A6673"/>
                </a:solidFill>
                <a:latin typeface="Times New Roman" pitchFamily="34" charset="0"/>
                <a:ea typeface="Times New Roman" pitchFamily="34" charset="-122"/>
                <a:cs typeface="Times New Roman" pitchFamily="34" charset="-120"/>
              </a:rPr>
              <a:t>Hu Yunhan</a:t>
            </a:r>
            <a:endParaRPr lang="en-US" sz="1800" dirty="0"/>
          </a:p>
          <a:p>
            <a:pPr algn="ctr" indent="0" marL="0">
              <a:lnSpc>
                <a:spcPct val="115000"/>
              </a:lnSpc>
              <a:buNone/>
            </a:pPr>
            <a:r>
              <a:rPr lang="en-US" sz="1800" dirty="0">
                <a:solidFill>
                  <a:srgbClr val="5A6673"/>
                </a:solidFill>
                <a:latin typeface="Times New Roman" pitchFamily="34" charset="0"/>
                <a:ea typeface="Times New Roman" pitchFamily="34" charset="-122"/>
                <a:cs typeface="Times New Roman" pitchFamily="34" charset="-120"/>
              </a:rPr>
              <a:t>Research Advisor: Lawted Wu</a:t>
            </a:r>
            <a:endParaRPr lang="en-US" sz="1800" dirty="0"/>
          </a:p>
        </p:txBody>
      </p:sp>
      <p:sp>
        <p:nvSpPr>
          <p:cNvPr id="5" name="Text 3"/>
          <p:cNvSpPr/>
          <p:nvPr/>
        </p:nvSpPr>
        <p:spPr>
          <a:xfrm>
            <a:off x="11475720" y="6446520"/>
            <a:ext cx="320040" cy="182880"/>
          </a:xfrm>
          <a:prstGeom prst="rect">
            <a:avLst/>
          </a:prstGeom>
          <a:noFill/>
          <a:ln/>
        </p:spPr>
        <p:txBody>
          <a:bodyPr wrap="square" lIns="0" tIns="0" rIns="0" bIns="0" rtlCol="0" anchor="ctr"/>
          <a:lstStyle/>
          <a:p>
            <a:pPr indent="0" marL="0">
              <a:buNone/>
            </a:pPr>
            <a:r>
              <a:rPr lang="en-US" sz="1200" dirty="0">
                <a:solidFill>
                  <a:srgbClr val="7A8794"/>
                </a:solidFill>
                <a:latin typeface="Times New Roman" pitchFamily="34" charset="0"/>
                <a:ea typeface="Times New Roman" pitchFamily="34" charset="-122"/>
                <a:cs typeface="Times New Roman" pitchFamily="34" charset="-120"/>
              </a:rPr>
              <a:t>1</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20040"/>
            <a:ext cx="11155680" cy="475488"/>
          </a:xfrm>
          <a:prstGeom prst="rect">
            <a:avLst/>
          </a:prstGeom>
          <a:noFill/>
          <a:ln/>
        </p:spPr>
        <p:txBody>
          <a:bodyPr wrap="square" lIns="0" tIns="0" rIns="0" bIns="0" rtlCol="0" anchor="ctr"/>
          <a:lstStyle/>
          <a:p>
            <a:pPr indent="0" marL="0">
              <a:buNone/>
            </a:pPr>
            <a:r>
              <a:rPr lang="en-US" sz="2800" b="1" dirty="0">
                <a:solidFill>
                  <a:srgbClr val="173B5F"/>
                </a:solidFill>
                <a:latin typeface="Times New Roman" pitchFamily="34" charset="0"/>
                <a:ea typeface="Times New Roman" pitchFamily="34" charset="-122"/>
                <a:cs typeface="Times New Roman" pitchFamily="34" charset="-120"/>
              </a:rPr>
              <a:t>Research Question &amp; Hypothesis</a:t>
            </a:r>
            <a:endParaRPr lang="en-US" sz="2800" dirty="0"/>
          </a:p>
        </p:txBody>
      </p:sp>
      <p:sp>
        <p:nvSpPr>
          <p:cNvPr id="3" name="Shape 1"/>
          <p:cNvSpPr/>
          <p:nvPr/>
        </p:nvSpPr>
        <p:spPr>
          <a:xfrm>
            <a:off x="502920" y="914400"/>
            <a:ext cx="11155680" cy="0"/>
          </a:xfrm>
          <a:prstGeom prst="line">
            <a:avLst/>
          </a:prstGeom>
          <a:noFill/>
          <a:ln w="19050">
            <a:solidFill>
              <a:srgbClr val="2D6A9F"/>
            </a:solidFill>
            <a:prstDash val="solid"/>
          </a:ln>
        </p:spPr>
      </p:sp>
      <p:sp>
        <p:nvSpPr>
          <p:cNvPr id="4" name="Text 2"/>
          <p:cNvSpPr/>
          <p:nvPr/>
        </p:nvSpPr>
        <p:spPr>
          <a:xfrm>
            <a:off x="731520" y="1417320"/>
            <a:ext cx="10698480" cy="4206240"/>
          </a:xfrm>
          <a:prstGeom prst="rect">
            <a:avLst/>
          </a:prstGeom>
          <a:noFill/>
          <a:ln/>
        </p:spPr>
        <p:txBody>
          <a:bodyPr wrap="square" lIns="762" tIns="762" rIns="762" bIns="762" rtlCol="0" anchor="t">
            <a:spAutoFit/>
          </a:bodyPr>
          <a:lstStyle/>
          <a:p>
            <a:pPr indent="0" marL="0">
              <a:lnSpc>
                <a:spcPct val="115000"/>
              </a:lnSpc>
              <a:buNone/>
            </a:pPr>
            <a:r>
              <a:rPr lang="en-US" sz="1600" dirty="0">
                <a:solidFill>
                  <a:srgbClr val="111827"/>
                </a:solidFill>
                <a:latin typeface="Times New Roman" pitchFamily="34" charset="0"/>
                <a:ea typeface="Times New Roman" pitchFamily="34" charset="-122"/>
                <a:cs typeface="Times New Roman" pitchFamily="34" charset="-120"/>
              </a:rPr>
              <a:t>Research Question: How does Mayor Climate Game affect energy layout choices for undergraduate students in a social science or urban climate class?</a:t>
            </a:r>
            <a:endParaRPr lang="en-US" sz="1600" dirty="0"/>
          </a:p>
          <a:p>
            <a:pPr indent="0" marL="0">
              <a:lnSpc>
                <a:spcPct val="115000"/>
              </a:lnSpc>
              <a:buNone/>
            </a:pPr>
            <a:endParaRPr lang="en-US" sz="1600" dirty="0"/>
          </a:p>
          <a:p>
            <a:pPr indent="0" marL="0">
              <a:lnSpc>
                <a:spcPct val="115000"/>
              </a:lnSpc>
              <a:buNone/>
            </a:pPr>
            <a:r>
              <a:rPr lang="en-US" sz="1600" dirty="0">
                <a:solidFill>
                  <a:srgbClr val="111827"/>
                </a:solidFill>
                <a:latin typeface="Times New Roman" pitchFamily="34" charset="0"/>
                <a:ea typeface="Times New Roman" pitchFamily="34" charset="-122"/>
                <a:cs typeface="Times New Roman" pitchFamily="34" charset="-120"/>
              </a:rPr>
              <a:t>Hypothesis: I hypothesize that after using Mayor Climate Game, undergraduate students will choose fewer high-carbon coal plants and show better understanding of the tradeoff between cost, carbon emissions, and urban ventilation.</a:t>
            </a:r>
            <a:endParaRPr lang="en-US" sz="1600" dirty="0"/>
          </a:p>
        </p:txBody>
      </p:sp>
      <p:sp>
        <p:nvSpPr>
          <p:cNvPr id="5" name="Text 3"/>
          <p:cNvSpPr/>
          <p:nvPr/>
        </p:nvSpPr>
        <p:spPr>
          <a:xfrm>
            <a:off x="11475720" y="6446520"/>
            <a:ext cx="320040" cy="182880"/>
          </a:xfrm>
          <a:prstGeom prst="rect">
            <a:avLst/>
          </a:prstGeom>
          <a:noFill/>
          <a:ln/>
        </p:spPr>
        <p:txBody>
          <a:bodyPr wrap="square" lIns="0" tIns="0" rIns="0" bIns="0" rtlCol="0" anchor="ctr"/>
          <a:lstStyle/>
          <a:p>
            <a:pPr indent="0" marL="0">
              <a:buNone/>
            </a:pPr>
            <a:r>
              <a:rPr lang="en-US" sz="1200" dirty="0">
                <a:solidFill>
                  <a:srgbClr val="7A8794"/>
                </a:solidFill>
                <a:latin typeface="Times New Roman" pitchFamily="34" charset="0"/>
                <a:ea typeface="Times New Roman" pitchFamily="34" charset="-122"/>
                <a:cs typeface="Times New Roman"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20040"/>
            <a:ext cx="11155680" cy="475488"/>
          </a:xfrm>
          <a:prstGeom prst="rect">
            <a:avLst/>
          </a:prstGeom>
          <a:noFill/>
          <a:ln/>
        </p:spPr>
        <p:txBody>
          <a:bodyPr wrap="square" lIns="0" tIns="0" rIns="0" bIns="0" rtlCol="0" anchor="ctr"/>
          <a:lstStyle/>
          <a:p>
            <a:pPr indent="0" marL="0">
              <a:buNone/>
            </a:pPr>
            <a:r>
              <a:rPr lang="en-US" sz="2800" b="1" dirty="0">
                <a:solidFill>
                  <a:srgbClr val="173B5F"/>
                </a:solidFill>
                <a:latin typeface="Times New Roman" pitchFamily="34" charset="0"/>
                <a:ea typeface="Times New Roman" pitchFamily="34" charset="-122"/>
                <a:cs typeface="Times New Roman" pitchFamily="34" charset="-120"/>
              </a:rPr>
              <a:t>Background</a:t>
            </a:r>
            <a:endParaRPr lang="en-US" sz="2800" dirty="0"/>
          </a:p>
        </p:txBody>
      </p:sp>
      <p:sp>
        <p:nvSpPr>
          <p:cNvPr id="3" name="Shape 1"/>
          <p:cNvSpPr/>
          <p:nvPr/>
        </p:nvSpPr>
        <p:spPr>
          <a:xfrm>
            <a:off x="502920" y="914400"/>
            <a:ext cx="11155680" cy="0"/>
          </a:xfrm>
          <a:prstGeom prst="line">
            <a:avLst/>
          </a:prstGeom>
          <a:noFill/>
          <a:ln w="19050">
            <a:solidFill>
              <a:srgbClr val="2D6A9F"/>
            </a:solidFill>
            <a:prstDash val="solid"/>
          </a:ln>
        </p:spPr>
      </p:sp>
      <p:sp>
        <p:nvSpPr>
          <p:cNvPr id="4" name="Text 2"/>
          <p:cNvSpPr/>
          <p:nvPr/>
        </p:nvSpPr>
        <p:spPr>
          <a:xfrm>
            <a:off x="685800" y="1143000"/>
            <a:ext cx="10835640" cy="5166360"/>
          </a:xfrm>
          <a:prstGeom prst="rect">
            <a:avLst/>
          </a:prstGeom>
          <a:noFill/>
          <a:ln/>
        </p:spPr>
        <p:txBody>
          <a:bodyPr wrap="square" lIns="762" tIns="762" rIns="762" bIns="762" rtlCol="0" anchor="t">
            <a:spAutoFit/>
          </a:bodyPr>
          <a:lstStyle/>
          <a:p>
            <a:pPr marL="177800" indent="-177800">
              <a:lnSpc>
                <a:spcPct val="115000"/>
              </a:lnSpc>
              <a:buSzPct val="100000"/>
              <a:buChar char="•"/>
            </a:pPr>
            <a:r>
              <a:rPr lang="en-US" sz="1400" dirty="0">
                <a:solidFill>
                  <a:srgbClr val="111827"/>
                </a:solidFill>
                <a:latin typeface="Times New Roman" pitchFamily="34" charset="0"/>
                <a:ea typeface="Times New Roman" pitchFamily="34" charset="-122"/>
                <a:cs typeface="Times New Roman" pitchFamily="34" charset="-120"/>
              </a:rPr>
              <a:t>Cities are facing hotter summers, higher cooling demand, and pressure to reduce carbon emissions.</a:t>
            </a:r>
            <a:endParaRPr lang="en-US" sz="1400" dirty="0"/>
          </a:p>
          <a:p>
            <a:pPr marL="177800" indent="-177800">
              <a:lnSpc>
                <a:spcPct val="115000"/>
              </a:lnSpc>
              <a:buSzPct val="100000"/>
              <a:buChar char="•"/>
            </a:pPr>
            <a:r>
              <a:rPr lang="en-US" sz="1400" dirty="0">
                <a:solidFill>
                  <a:srgbClr val="111827"/>
                </a:solidFill>
                <a:latin typeface="Times New Roman" pitchFamily="34" charset="0"/>
                <a:ea typeface="Times New Roman" pitchFamily="34" charset="-122"/>
                <a:cs typeface="Times New Roman" pitchFamily="34" charset="-120"/>
              </a:rPr>
              <a:t>Urban heat is not only a weather problem. It is also connected to energy use, public health, and city planning.</a:t>
            </a:r>
            <a:endParaRPr lang="en-US" sz="1400" dirty="0"/>
          </a:p>
          <a:p>
            <a:pPr marL="177800" indent="-177800">
              <a:lnSpc>
                <a:spcPct val="115000"/>
              </a:lnSpc>
              <a:buSzPct val="100000"/>
              <a:buChar char="•"/>
            </a:pPr>
            <a:r>
              <a:rPr lang="en-US" sz="1400" dirty="0">
                <a:solidFill>
                  <a:srgbClr val="111827"/>
                </a:solidFill>
                <a:latin typeface="Times New Roman" pitchFamily="34" charset="0"/>
                <a:ea typeface="Times New Roman" pitchFamily="34" charset="-122"/>
                <a:cs typeface="Times New Roman" pitchFamily="34" charset="-120"/>
              </a:rPr>
              <a:t>When a city depends only on air conditioning, electricity demand and emissions can rise. The International Energy Agency notes that cooling demand is growing fast, and that city design also matters.</a:t>
            </a:r>
            <a:endParaRPr lang="en-US" sz="1400" dirty="0"/>
          </a:p>
          <a:p>
            <a:pPr marL="177800" indent="-177800">
              <a:lnSpc>
                <a:spcPct val="115000"/>
              </a:lnSpc>
              <a:buSzPct val="100000"/>
              <a:buChar char="•"/>
            </a:pPr>
            <a:r>
              <a:rPr lang="en-US" sz="1400" dirty="0">
                <a:solidFill>
                  <a:srgbClr val="111827"/>
                </a:solidFill>
                <a:latin typeface="Times New Roman" pitchFamily="34" charset="0"/>
                <a:ea typeface="Times New Roman" pitchFamily="34" charset="-122"/>
                <a:cs typeface="Times New Roman" pitchFamily="34" charset="-120"/>
              </a:rPr>
              <a:t>My project asks a small version of this problem: if a player has limited money, will they still choose cleaner energy when the page shows the climate cost of each choice?</a:t>
            </a:r>
            <a:endParaRPr lang="en-US" sz="1400" dirty="0"/>
          </a:p>
        </p:txBody>
      </p:sp>
      <p:sp>
        <p:nvSpPr>
          <p:cNvPr id="5" name="Text 3"/>
          <p:cNvSpPr/>
          <p:nvPr/>
        </p:nvSpPr>
        <p:spPr>
          <a:xfrm>
            <a:off x="11475720" y="6446520"/>
            <a:ext cx="320040" cy="182880"/>
          </a:xfrm>
          <a:prstGeom prst="rect">
            <a:avLst/>
          </a:prstGeom>
          <a:noFill/>
          <a:ln/>
        </p:spPr>
        <p:txBody>
          <a:bodyPr wrap="square" lIns="0" tIns="0" rIns="0" bIns="0" rtlCol="0" anchor="ctr"/>
          <a:lstStyle/>
          <a:p>
            <a:pPr indent="0" marL="0">
              <a:buNone/>
            </a:pPr>
            <a:r>
              <a:rPr lang="en-US" sz="1200" dirty="0">
                <a:solidFill>
                  <a:srgbClr val="7A8794"/>
                </a:solidFill>
                <a:latin typeface="Times New Roman" pitchFamily="34" charset="0"/>
                <a:ea typeface="Times New Roman" pitchFamily="34" charset="-122"/>
                <a:cs typeface="Times New Roman" pitchFamily="34" charset="-120"/>
              </a:rPr>
              <a:t>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20040"/>
            <a:ext cx="11155680" cy="475488"/>
          </a:xfrm>
          <a:prstGeom prst="rect">
            <a:avLst/>
          </a:prstGeom>
          <a:noFill/>
          <a:ln/>
        </p:spPr>
        <p:txBody>
          <a:bodyPr wrap="square" lIns="0" tIns="0" rIns="0" bIns="0" rtlCol="0" anchor="ctr"/>
          <a:lstStyle/>
          <a:p>
            <a:pPr indent="0" marL="0">
              <a:buNone/>
            </a:pPr>
            <a:r>
              <a:rPr lang="en-US" sz="2800" b="1" dirty="0">
                <a:solidFill>
                  <a:srgbClr val="173B5F"/>
                </a:solidFill>
                <a:latin typeface="Times New Roman" pitchFamily="34" charset="0"/>
                <a:ea typeface="Times New Roman" pitchFamily="34" charset="-122"/>
                <a:cs typeface="Times New Roman" pitchFamily="34" charset="-120"/>
              </a:rPr>
              <a:t>Literature Review</a:t>
            </a:r>
            <a:endParaRPr lang="en-US" sz="2800" dirty="0"/>
          </a:p>
        </p:txBody>
      </p:sp>
      <p:sp>
        <p:nvSpPr>
          <p:cNvPr id="3" name="Shape 1"/>
          <p:cNvSpPr/>
          <p:nvPr/>
        </p:nvSpPr>
        <p:spPr>
          <a:xfrm>
            <a:off x="502920" y="914400"/>
            <a:ext cx="11155680" cy="0"/>
          </a:xfrm>
          <a:prstGeom prst="line">
            <a:avLst/>
          </a:prstGeom>
          <a:noFill/>
          <a:ln w="19050">
            <a:solidFill>
              <a:srgbClr val="2D6A9F"/>
            </a:solidFill>
            <a:prstDash val="solid"/>
          </a:ln>
        </p:spPr>
      </p:sp>
      <p:sp>
        <p:nvSpPr>
          <p:cNvPr id="4" name="Text 2"/>
          <p:cNvSpPr/>
          <p:nvPr/>
        </p:nvSpPr>
        <p:spPr>
          <a:xfrm>
            <a:off x="685800" y="1143000"/>
            <a:ext cx="10835640" cy="5166360"/>
          </a:xfrm>
          <a:prstGeom prst="rect">
            <a:avLst/>
          </a:prstGeom>
          <a:noFill/>
          <a:ln/>
        </p:spPr>
        <p:txBody>
          <a:bodyPr wrap="square" lIns="762" tIns="762" rIns="762" bIns="762" rtlCol="0" anchor="t">
            <a:spAutoFit/>
          </a:bodyPr>
          <a:lstStyle/>
          <a:p>
            <a:pPr marL="177800" indent="-177800">
              <a:lnSpc>
                <a:spcPct val="115000"/>
              </a:lnSpc>
              <a:buSzPct val="100000"/>
              <a:buChar char="•"/>
            </a:pPr>
            <a:r>
              <a:rPr lang="en-US" sz="1300" dirty="0">
                <a:solidFill>
                  <a:srgbClr val="111827"/>
                </a:solidFill>
                <a:latin typeface="Times New Roman" pitchFamily="34" charset="0"/>
                <a:ea typeface="Times New Roman" pitchFamily="34" charset="-122"/>
                <a:cs typeface="Times New Roman" pitchFamily="34" charset="-120"/>
              </a:rPr>
              <a:t>Research on urban ventilation corridors shows that wind paths can help cities move heat and pollution out of dense areas. The Beijing and Guiyang cases show that parks, green space, water systems, roads, and prevailing wind direction can all be part of ventilation planning.</a:t>
            </a:r>
            <a:endParaRPr lang="en-US" sz="1300" dirty="0"/>
          </a:p>
          <a:p>
            <a:pPr marL="177800" indent="-177800">
              <a:lnSpc>
                <a:spcPct val="115000"/>
              </a:lnSpc>
              <a:buSzPct val="100000"/>
              <a:buChar char="•"/>
            </a:pPr>
            <a:r>
              <a:rPr lang="en-US" sz="1300" dirty="0">
                <a:solidFill>
                  <a:srgbClr val="111827"/>
                </a:solidFill>
                <a:latin typeface="Times New Roman" pitchFamily="34" charset="0"/>
                <a:ea typeface="Times New Roman" pitchFamily="34" charset="-122"/>
                <a:cs typeface="Times New Roman" pitchFamily="34" charset="-120"/>
              </a:rPr>
              <a:t>Other studies use GIS, remote sensing, WRF, and CFD to find heat islands and ventilation barriers. These tools are powerful, but they are hard for non-experts to use.</a:t>
            </a:r>
            <a:endParaRPr lang="en-US" sz="1300" dirty="0"/>
          </a:p>
          <a:p>
            <a:pPr marL="177800" indent="-177800">
              <a:lnSpc>
                <a:spcPct val="115000"/>
              </a:lnSpc>
              <a:buSzPct val="100000"/>
              <a:buChar char="•"/>
            </a:pPr>
            <a:r>
              <a:rPr lang="en-US" sz="1300" dirty="0">
                <a:solidFill>
                  <a:srgbClr val="111827"/>
                </a:solidFill>
                <a:latin typeface="Times New Roman" pitchFamily="34" charset="0"/>
                <a:ea typeface="Times New Roman" pitchFamily="34" charset="-122"/>
                <a:cs typeface="Times New Roman" pitchFamily="34" charset="-120"/>
              </a:rPr>
              <a:t>The International Energy Agency argues that cooling is not only about air conditioners. Building design, natural ventilation, and urban green space can reduce cooling pressure.</a:t>
            </a:r>
            <a:endParaRPr lang="en-US" sz="1300" dirty="0"/>
          </a:p>
          <a:p>
            <a:pPr marL="177800" indent="-177800">
              <a:lnSpc>
                <a:spcPct val="115000"/>
              </a:lnSpc>
              <a:buSzPct val="100000"/>
              <a:buChar char="•"/>
            </a:pPr>
            <a:r>
              <a:rPr lang="en-US" sz="1300" dirty="0">
                <a:solidFill>
                  <a:srgbClr val="111827"/>
                </a:solidFill>
                <a:latin typeface="Times New Roman" pitchFamily="34" charset="0"/>
                <a:ea typeface="Times New Roman" pitchFamily="34" charset="-122"/>
                <a:cs typeface="Times New Roman" pitchFamily="34" charset="-120"/>
              </a:rPr>
              <a:t>Serious games offer another path. Energy and heat-planning games can help non-expert users learn tradeoffs by making choices. This supports my project: a small browser game can make an abstract planning problem easier to understand.</a:t>
            </a:r>
            <a:endParaRPr lang="en-US" sz="1300" dirty="0"/>
          </a:p>
          <a:p>
            <a:pPr marL="177800" indent="-177800">
              <a:lnSpc>
                <a:spcPct val="115000"/>
              </a:lnSpc>
              <a:buSzPct val="100000"/>
              <a:buChar char="•"/>
            </a:pPr>
            <a:r>
              <a:rPr lang="en-US" sz="1300" dirty="0">
                <a:solidFill>
                  <a:srgbClr val="111827"/>
                </a:solidFill>
                <a:latin typeface="Times New Roman" pitchFamily="34" charset="0"/>
                <a:ea typeface="Times New Roman" pitchFamily="34" charset="-122"/>
                <a:cs typeface="Times New Roman" pitchFamily="34" charset="-120"/>
              </a:rPr>
              <a:t>The gap is that many tools are either professional simulation tools or public education games. My project is a small research prototype that both teaches a concept and records player choices.</a:t>
            </a:r>
            <a:endParaRPr lang="en-US" sz="1300" dirty="0"/>
          </a:p>
        </p:txBody>
      </p:sp>
      <p:sp>
        <p:nvSpPr>
          <p:cNvPr id="5" name="Text 3"/>
          <p:cNvSpPr/>
          <p:nvPr/>
        </p:nvSpPr>
        <p:spPr>
          <a:xfrm>
            <a:off x="11475720" y="6446520"/>
            <a:ext cx="320040" cy="182880"/>
          </a:xfrm>
          <a:prstGeom prst="rect">
            <a:avLst/>
          </a:prstGeom>
          <a:noFill/>
          <a:ln/>
        </p:spPr>
        <p:txBody>
          <a:bodyPr wrap="square" lIns="0" tIns="0" rIns="0" bIns="0" rtlCol="0" anchor="ctr"/>
          <a:lstStyle/>
          <a:p>
            <a:pPr indent="0" marL="0">
              <a:buNone/>
            </a:pPr>
            <a:r>
              <a:rPr lang="en-US" sz="1200" dirty="0">
                <a:solidFill>
                  <a:srgbClr val="7A8794"/>
                </a:solidFill>
                <a:latin typeface="Times New Roman" pitchFamily="34" charset="0"/>
                <a:ea typeface="Times New Roman" pitchFamily="34" charset="-122"/>
                <a:cs typeface="Times New Roman" pitchFamily="34" charset="-120"/>
              </a:rPr>
              <a:t>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20040"/>
            <a:ext cx="11155680" cy="475488"/>
          </a:xfrm>
          <a:prstGeom prst="rect">
            <a:avLst/>
          </a:prstGeom>
          <a:noFill/>
          <a:ln/>
        </p:spPr>
        <p:txBody>
          <a:bodyPr wrap="square" lIns="0" tIns="0" rIns="0" bIns="0" rtlCol="0" anchor="ctr"/>
          <a:lstStyle/>
          <a:p>
            <a:pPr indent="0" marL="0">
              <a:buNone/>
            </a:pPr>
            <a:r>
              <a:rPr lang="en-US" sz="2800" b="1" dirty="0">
                <a:solidFill>
                  <a:srgbClr val="173B5F"/>
                </a:solidFill>
                <a:latin typeface="Times New Roman" pitchFamily="34" charset="0"/>
                <a:ea typeface="Times New Roman" pitchFamily="34" charset="-122"/>
                <a:cs typeface="Times New Roman" pitchFamily="34" charset="-120"/>
              </a:rPr>
              <a:t>Research Design / Method</a:t>
            </a:r>
            <a:endParaRPr lang="en-US" sz="2800" dirty="0"/>
          </a:p>
        </p:txBody>
      </p:sp>
      <p:sp>
        <p:nvSpPr>
          <p:cNvPr id="3" name="Shape 1"/>
          <p:cNvSpPr/>
          <p:nvPr/>
        </p:nvSpPr>
        <p:spPr>
          <a:xfrm>
            <a:off x="502920" y="914400"/>
            <a:ext cx="11155680" cy="0"/>
          </a:xfrm>
          <a:prstGeom prst="line">
            <a:avLst/>
          </a:prstGeom>
          <a:noFill/>
          <a:ln w="19050">
            <a:solidFill>
              <a:srgbClr val="2D6A9F"/>
            </a:solidFill>
            <a:prstDash val="solid"/>
          </a:ln>
        </p:spPr>
      </p:sp>
      <p:sp>
        <p:nvSpPr>
          <p:cNvPr id="4" name="Text 2"/>
          <p:cNvSpPr/>
          <p:nvPr/>
        </p:nvSpPr>
        <p:spPr>
          <a:xfrm>
            <a:off x="685800" y="1143000"/>
            <a:ext cx="10835640" cy="5166360"/>
          </a:xfrm>
          <a:prstGeom prst="rect">
            <a:avLst/>
          </a:prstGeom>
          <a:noFill/>
          <a:ln/>
        </p:spPr>
        <p:txBody>
          <a:bodyPr wrap="square" lIns="762" tIns="762" rIns="762" bIns="762" rtlCol="0" anchor="t">
            <a:spAutoFit/>
          </a:bodyPr>
          <a:lstStyle/>
          <a:p>
            <a:pPr marL="177800" indent="-177800">
              <a:lnSpc>
                <a:spcPct val="115000"/>
              </a:lnSpc>
              <a:buSzPct val="100000"/>
              <a:buChar char="•"/>
            </a:pPr>
            <a:r>
              <a:rPr lang="en-US" sz="1300" dirty="0">
                <a:solidFill>
                  <a:srgbClr val="111827"/>
                </a:solidFill>
                <a:latin typeface="Times New Roman" pitchFamily="34" charset="0"/>
                <a:ea typeface="Times New Roman" pitchFamily="34" charset="-122"/>
                <a:cs typeface="Times New Roman" pitchFamily="34" charset="-120"/>
              </a:rPr>
              <a:t>My artifact is a single-file browser game called Mayor Climate Game.</a:t>
            </a:r>
            <a:endParaRPr lang="en-US" sz="1300" dirty="0"/>
          </a:p>
          <a:p>
            <a:pPr marL="177800" indent="-177800">
              <a:lnSpc>
                <a:spcPct val="115000"/>
              </a:lnSpc>
              <a:buSzPct val="100000"/>
              <a:buChar char="•"/>
            </a:pPr>
            <a:r>
              <a:rPr lang="en-US" sz="1300" dirty="0">
                <a:solidFill>
                  <a:srgbClr val="111827"/>
                </a:solidFill>
                <a:latin typeface="Times New Roman" pitchFamily="34" charset="0"/>
                <a:ea typeface="Times New Roman" pitchFamily="34" charset="-122"/>
                <a:cs typeface="Times New Roman" pitchFamily="34" charset="-120"/>
              </a:rPr>
              <a:t>The player acts as a mayor with a budget of 10 million yuan. The city is a 12 by 12 grid with normal areas, residential areas, ventilation corridors, wind outlets, and low basins.</a:t>
            </a:r>
            <a:endParaRPr lang="en-US" sz="1300" dirty="0"/>
          </a:p>
          <a:p>
            <a:pPr marL="177800" indent="-177800">
              <a:lnSpc>
                <a:spcPct val="115000"/>
              </a:lnSpc>
              <a:buSzPct val="100000"/>
              <a:buChar char="•"/>
            </a:pPr>
            <a:r>
              <a:rPr lang="en-US" sz="1300" dirty="0">
                <a:solidFill>
                  <a:srgbClr val="111827"/>
                </a:solidFill>
                <a:latin typeface="Times New Roman" pitchFamily="34" charset="0"/>
                <a:ea typeface="Times New Roman" pitchFamily="34" charset="-122"/>
                <a:cs typeface="Times New Roman" pitchFamily="34" charset="-120"/>
              </a:rPr>
              <a:t>The player can place three facilities: coal power, wind power, and ground-source heat pumps.</a:t>
            </a:r>
            <a:endParaRPr lang="en-US" sz="1300" dirty="0"/>
          </a:p>
          <a:p>
            <a:pPr marL="177800" indent="-177800">
              <a:lnSpc>
                <a:spcPct val="115000"/>
              </a:lnSpc>
              <a:buSzPct val="100000"/>
              <a:buChar char="•"/>
            </a:pPr>
            <a:r>
              <a:rPr lang="en-US" sz="1300" dirty="0">
                <a:solidFill>
                  <a:srgbClr val="111827"/>
                </a:solidFill>
                <a:latin typeface="Times New Roman" pitchFamily="34" charset="0"/>
                <a:ea typeface="Times New Roman" pitchFamily="34" charset="-122"/>
                <a:cs typeface="Times New Roman" pitchFamily="34" charset="-120"/>
              </a:rPr>
              <a:t>The page updates three indicators in real time: average temperature, average wind speed, and carbon emissions.</a:t>
            </a:r>
            <a:endParaRPr lang="en-US" sz="1300" dirty="0"/>
          </a:p>
          <a:p>
            <a:pPr marL="177800" indent="-177800">
              <a:lnSpc>
                <a:spcPct val="115000"/>
              </a:lnSpc>
              <a:buSzPct val="100000"/>
              <a:buChar char="•"/>
            </a:pPr>
            <a:r>
              <a:rPr lang="en-US" sz="1300" dirty="0">
                <a:solidFill>
                  <a:srgbClr val="111827"/>
                </a:solidFill>
                <a:latin typeface="Times New Roman" pitchFamily="34" charset="0"/>
                <a:ea typeface="Times New Roman" pitchFamily="34" charset="-122"/>
                <a:cs typeface="Times New Roman" pitchFamily="34" charset="-120"/>
              </a:rPr>
              <a:t>At the end, the player answers two short questions and downloads a JSON file. The file records the layout, budget used, score, metrics, and survey answers.</a:t>
            </a:r>
            <a:endParaRPr lang="en-US" sz="1300" dirty="0"/>
          </a:p>
          <a:p>
            <a:pPr marL="177800" indent="-177800">
              <a:lnSpc>
                <a:spcPct val="115000"/>
              </a:lnSpc>
              <a:buSzPct val="100000"/>
              <a:buChar char="•"/>
            </a:pPr>
            <a:r>
              <a:rPr lang="en-US" sz="1300" dirty="0">
                <a:solidFill>
                  <a:srgbClr val="111827"/>
                </a:solidFill>
                <a:latin typeface="Times New Roman" pitchFamily="34" charset="0"/>
                <a:ea typeface="Times New Roman" pitchFamily="34" charset="-122"/>
                <a:cs typeface="Times New Roman" pitchFamily="34" charset="-120"/>
              </a:rPr>
              <a:t>For the user study, I plan to invite classmates or workshop participants to play one round. I will analyze whether they choose coal power, where they place it, and whether they understand the ventilation rule.</a:t>
            </a:r>
            <a:endParaRPr lang="en-US" sz="1300" dirty="0"/>
          </a:p>
        </p:txBody>
      </p:sp>
      <p:sp>
        <p:nvSpPr>
          <p:cNvPr id="5" name="Text 3"/>
          <p:cNvSpPr/>
          <p:nvPr/>
        </p:nvSpPr>
        <p:spPr>
          <a:xfrm>
            <a:off x="11475720" y="6446520"/>
            <a:ext cx="320040" cy="182880"/>
          </a:xfrm>
          <a:prstGeom prst="rect">
            <a:avLst/>
          </a:prstGeom>
          <a:noFill/>
          <a:ln/>
        </p:spPr>
        <p:txBody>
          <a:bodyPr wrap="square" lIns="0" tIns="0" rIns="0" bIns="0" rtlCol="0" anchor="ctr"/>
          <a:lstStyle/>
          <a:p>
            <a:pPr indent="0" marL="0">
              <a:buNone/>
            </a:pPr>
            <a:r>
              <a:rPr lang="en-US" sz="1200" dirty="0">
                <a:solidFill>
                  <a:srgbClr val="7A8794"/>
                </a:solidFill>
                <a:latin typeface="Times New Roman" pitchFamily="34" charset="0"/>
                <a:ea typeface="Times New Roman" pitchFamily="34" charset="-122"/>
                <a:cs typeface="Times New Roman" pitchFamily="34" charset="-120"/>
              </a:rPr>
              <a:t>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20040"/>
            <a:ext cx="11155680" cy="475488"/>
          </a:xfrm>
          <a:prstGeom prst="rect">
            <a:avLst/>
          </a:prstGeom>
          <a:noFill/>
          <a:ln/>
        </p:spPr>
        <p:txBody>
          <a:bodyPr wrap="square" lIns="0" tIns="0" rIns="0" bIns="0" rtlCol="0" anchor="ctr"/>
          <a:lstStyle/>
          <a:p>
            <a:pPr indent="0" marL="0">
              <a:buNone/>
            </a:pPr>
            <a:r>
              <a:rPr lang="en-US" sz="2800" b="1" dirty="0">
                <a:solidFill>
                  <a:srgbClr val="173B5F"/>
                </a:solidFill>
                <a:latin typeface="Times New Roman" pitchFamily="34" charset="0"/>
                <a:ea typeface="Times New Roman" pitchFamily="34" charset="-122"/>
                <a:cs typeface="Times New Roman" pitchFamily="34" charset="-120"/>
              </a:rPr>
              <a:t>Research Plan &amp; Challenges</a:t>
            </a:r>
            <a:endParaRPr lang="en-US" sz="2800" dirty="0"/>
          </a:p>
        </p:txBody>
      </p:sp>
      <p:sp>
        <p:nvSpPr>
          <p:cNvPr id="3" name="Shape 1"/>
          <p:cNvSpPr/>
          <p:nvPr/>
        </p:nvSpPr>
        <p:spPr>
          <a:xfrm>
            <a:off x="502920" y="914400"/>
            <a:ext cx="11155680" cy="0"/>
          </a:xfrm>
          <a:prstGeom prst="line">
            <a:avLst/>
          </a:prstGeom>
          <a:noFill/>
          <a:ln w="19050">
            <a:solidFill>
              <a:srgbClr val="2D6A9F"/>
            </a:solidFill>
            <a:prstDash val="solid"/>
          </a:ln>
        </p:spPr>
      </p:sp>
      <p:sp>
        <p:nvSpPr>
          <p:cNvPr id="4" name="Text 2"/>
          <p:cNvSpPr/>
          <p:nvPr/>
        </p:nvSpPr>
        <p:spPr>
          <a:xfrm>
            <a:off x="685800" y="1143000"/>
            <a:ext cx="10835640" cy="5166360"/>
          </a:xfrm>
          <a:prstGeom prst="rect">
            <a:avLst/>
          </a:prstGeom>
          <a:noFill/>
          <a:ln/>
        </p:spPr>
        <p:txBody>
          <a:bodyPr wrap="square" lIns="762" tIns="762" rIns="762" bIns="762" rtlCol="0" anchor="t">
            <a:spAutoFit/>
          </a:bodyPr>
          <a:lstStyle/>
          <a:p>
            <a:pPr marL="177800" indent="-177800">
              <a:lnSpc>
                <a:spcPct val="115000"/>
              </a:lnSpc>
              <a:buSzPct val="100000"/>
              <a:buChar char="•"/>
            </a:pPr>
            <a:r>
              <a:rPr lang="en-US" sz="1300" dirty="0">
                <a:solidFill>
                  <a:srgbClr val="111827"/>
                </a:solidFill>
                <a:latin typeface="Times New Roman" pitchFamily="34" charset="0"/>
                <a:ea typeface="Times New Roman" pitchFamily="34" charset="-122"/>
                <a:cs typeface="Times New Roman" pitchFamily="34" charset="-120"/>
              </a:rPr>
              <a:t>Current status: the MVP page, research folder, and spec file are already in the GitHub repository. The prototype is deployed on Vercel and can also run locally as index.html.</a:t>
            </a:r>
            <a:endParaRPr lang="en-US" sz="1300" dirty="0"/>
          </a:p>
          <a:p>
            <a:pPr marL="177800" indent="-177800">
              <a:lnSpc>
                <a:spcPct val="115000"/>
              </a:lnSpc>
              <a:buSzPct val="100000"/>
              <a:buChar char="•"/>
            </a:pPr>
            <a:r>
              <a:rPr lang="en-US" sz="1300" dirty="0">
                <a:solidFill>
                  <a:srgbClr val="111827"/>
                </a:solidFill>
                <a:latin typeface="Times New Roman" pitchFamily="34" charset="0"/>
                <a:ea typeface="Times New Roman" pitchFamily="34" charset="-122"/>
                <a:cs typeface="Times New Roman" pitchFamily="34" charset="-120"/>
              </a:rPr>
              <a:t>Next steps:</a:t>
            </a:r>
            <a:endParaRPr lang="en-US" sz="1300" dirty="0"/>
          </a:p>
          <a:p>
            <a:pPr marL="177800" indent="-177800">
              <a:lnSpc>
                <a:spcPct val="115000"/>
              </a:lnSpc>
              <a:buSzPct val="100000"/>
              <a:buChar char="•"/>
            </a:pPr>
            <a:r>
              <a:rPr lang="en-US" sz="1300" dirty="0">
                <a:solidFill>
                  <a:srgbClr val="111827"/>
                </a:solidFill>
                <a:latin typeface="Times New Roman" pitchFamily="34" charset="0"/>
                <a:ea typeface="Times New Roman" pitchFamily="34" charset="-122"/>
                <a:cs typeface="Times New Roman" pitchFamily="34" charset="-120"/>
              </a:rPr>
              <a:t>Polish the page and deploy it online.</a:t>
            </a:r>
            <a:endParaRPr lang="en-US" sz="1300" dirty="0"/>
          </a:p>
          <a:p>
            <a:pPr marL="177800" indent="-177800">
              <a:lnSpc>
                <a:spcPct val="115000"/>
              </a:lnSpc>
              <a:buSzPct val="100000"/>
              <a:buChar char="•"/>
            </a:pPr>
            <a:r>
              <a:rPr lang="en-US" sz="1300" dirty="0">
                <a:solidFill>
                  <a:srgbClr val="111827"/>
                </a:solidFill>
                <a:latin typeface="Times New Roman" pitchFamily="34" charset="0"/>
                <a:ea typeface="Times New Roman" pitchFamily="34" charset="-122"/>
                <a:cs typeface="Times New Roman" pitchFamily="34" charset="-120"/>
              </a:rPr>
              <a:t>Ask several classmates to play one short round.</a:t>
            </a:r>
            <a:endParaRPr lang="en-US" sz="1300" dirty="0"/>
          </a:p>
          <a:p>
            <a:pPr marL="177800" indent="-177800">
              <a:lnSpc>
                <a:spcPct val="115000"/>
              </a:lnSpc>
              <a:buSzPct val="100000"/>
              <a:buChar char="•"/>
            </a:pPr>
            <a:r>
              <a:rPr lang="en-US" sz="1300" dirty="0">
                <a:solidFill>
                  <a:srgbClr val="111827"/>
                </a:solidFill>
                <a:latin typeface="Times New Roman" pitchFamily="34" charset="0"/>
                <a:ea typeface="Times New Roman" pitchFamily="34" charset="-122"/>
                <a:cs typeface="Times New Roman" pitchFamily="34" charset="-120"/>
              </a:rPr>
              <a:t>Collect the exported JSON files.</a:t>
            </a:r>
            <a:endParaRPr lang="en-US" sz="1300" dirty="0"/>
          </a:p>
          <a:p>
            <a:pPr marL="177800" indent="-177800">
              <a:lnSpc>
                <a:spcPct val="115000"/>
              </a:lnSpc>
              <a:buSzPct val="100000"/>
              <a:buChar char="•"/>
            </a:pPr>
            <a:r>
              <a:rPr lang="en-US" sz="1300" dirty="0">
                <a:solidFill>
                  <a:srgbClr val="111827"/>
                </a:solidFill>
                <a:latin typeface="Times New Roman" pitchFamily="34" charset="0"/>
                <a:ea typeface="Times New Roman" pitchFamily="34" charset="-122"/>
                <a:cs typeface="Times New Roman" pitchFamily="34" charset="-120"/>
              </a:rPr>
              <a:t>Compare layouts, carbon emissions, budget use, and answers to the two questions.</a:t>
            </a:r>
            <a:endParaRPr lang="en-US" sz="1300" dirty="0"/>
          </a:p>
          <a:p>
            <a:pPr marL="177800" indent="-177800">
              <a:lnSpc>
                <a:spcPct val="115000"/>
              </a:lnSpc>
              <a:buSzPct val="100000"/>
              <a:buChar char="•"/>
            </a:pPr>
            <a:r>
              <a:rPr lang="en-US" sz="1300" dirty="0">
                <a:solidFill>
                  <a:srgbClr val="111827"/>
                </a:solidFill>
                <a:latin typeface="Times New Roman" pitchFamily="34" charset="0"/>
                <a:ea typeface="Times New Roman" pitchFamily="34" charset="-122"/>
                <a:cs typeface="Times New Roman" pitchFamily="34" charset="-120"/>
              </a:rPr>
              <a:t>Decide whether the questionnaire needs one open-ended question.</a:t>
            </a:r>
            <a:endParaRPr lang="en-US" sz="1300" dirty="0"/>
          </a:p>
          <a:p>
            <a:pPr marL="177800" indent="-177800">
              <a:lnSpc>
                <a:spcPct val="115000"/>
              </a:lnSpc>
              <a:buSzPct val="100000"/>
              <a:buChar char="•"/>
            </a:pPr>
            <a:r>
              <a:rPr lang="en-US" sz="1300" dirty="0">
                <a:solidFill>
                  <a:srgbClr val="111827"/>
                </a:solidFill>
                <a:latin typeface="Times New Roman" pitchFamily="34" charset="0"/>
                <a:ea typeface="Times New Roman" pitchFamily="34" charset="-122"/>
                <a:cs typeface="Times New Roman" pitchFamily="34" charset="-120"/>
              </a:rPr>
              <a:t>Main challenges:</a:t>
            </a:r>
            <a:endParaRPr lang="en-US" sz="1300" dirty="0"/>
          </a:p>
          <a:p>
            <a:pPr marL="177800" indent="-177800">
              <a:lnSpc>
                <a:spcPct val="115000"/>
              </a:lnSpc>
              <a:buSzPct val="100000"/>
              <a:buChar char="•"/>
            </a:pPr>
            <a:r>
              <a:rPr lang="en-US" sz="1300" dirty="0">
                <a:solidFill>
                  <a:srgbClr val="111827"/>
                </a:solidFill>
                <a:latin typeface="Times New Roman" pitchFamily="34" charset="0"/>
                <a:ea typeface="Times New Roman" pitchFamily="34" charset="-122"/>
                <a:cs typeface="Times New Roman" pitchFamily="34" charset="-120"/>
              </a:rPr>
              <a:t>The physics model is simplified, so I cannot claim it is a real city simulation.</a:t>
            </a:r>
            <a:endParaRPr lang="en-US" sz="1300" dirty="0"/>
          </a:p>
          <a:p>
            <a:pPr marL="177800" indent="-177800">
              <a:lnSpc>
                <a:spcPct val="115000"/>
              </a:lnSpc>
              <a:buSzPct val="100000"/>
              <a:buChar char="•"/>
            </a:pPr>
            <a:r>
              <a:rPr lang="en-US" sz="1300" dirty="0">
                <a:solidFill>
                  <a:srgbClr val="111827"/>
                </a:solidFill>
                <a:latin typeface="Times New Roman" pitchFamily="34" charset="0"/>
                <a:ea typeface="Times New Roman" pitchFamily="34" charset="-122"/>
                <a:cs typeface="Times New Roman" pitchFamily="34" charset="-120"/>
              </a:rPr>
              <a:t>The sample size may be small.</a:t>
            </a:r>
            <a:endParaRPr lang="en-US" sz="1300" dirty="0"/>
          </a:p>
          <a:p>
            <a:pPr marL="177800" indent="-177800">
              <a:lnSpc>
                <a:spcPct val="115000"/>
              </a:lnSpc>
              <a:buSzPct val="100000"/>
              <a:buChar char="•"/>
            </a:pPr>
            <a:r>
              <a:rPr lang="en-US" sz="1300" dirty="0">
                <a:solidFill>
                  <a:srgbClr val="111827"/>
                </a:solidFill>
                <a:latin typeface="Times New Roman" pitchFamily="34" charset="0"/>
                <a:ea typeface="Times New Roman" pitchFamily="34" charset="-122"/>
                <a:cs typeface="Times New Roman" pitchFamily="34" charset="-120"/>
              </a:rPr>
              <a:t>Some players may treat the page as a game only, not as a research task.</a:t>
            </a:r>
            <a:endParaRPr lang="en-US" sz="1300" dirty="0"/>
          </a:p>
          <a:p>
            <a:pPr marL="177800" indent="-177800">
              <a:lnSpc>
                <a:spcPct val="115000"/>
              </a:lnSpc>
              <a:buSzPct val="100000"/>
              <a:buChar char="•"/>
            </a:pPr>
            <a:r>
              <a:rPr lang="en-US" sz="1300" dirty="0">
                <a:solidFill>
                  <a:srgbClr val="111827"/>
                </a:solidFill>
                <a:latin typeface="Times New Roman" pitchFamily="34" charset="0"/>
                <a:ea typeface="Times New Roman" pitchFamily="34" charset="-122"/>
                <a:cs typeface="Times New Roman" pitchFamily="34" charset="-120"/>
              </a:rPr>
              <a:t>The Vercel site is live, but some networks may have trouble opening vercel.app, so I will keep the local file as a backup.</a:t>
            </a:r>
            <a:endParaRPr lang="en-US" sz="1300" dirty="0"/>
          </a:p>
        </p:txBody>
      </p:sp>
      <p:sp>
        <p:nvSpPr>
          <p:cNvPr id="5" name="Text 3"/>
          <p:cNvSpPr/>
          <p:nvPr/>
        </p:nvSpPr>
        <p:spPr>
          <a:xfrm>
            <a:off x="11475720" y="6446520"/>
            <a:ext cx="320040" cy="182880"/>
          </a:xfrm>
          <a:prstGeom prst="rect">
            <a:avLst/>
          </a:prstGeom>
          <a:noFill/>
          <a:ln/>
        </p:spPr>
        <p:txBody>
          <a:bodyPr wrap="square" lIns="0" tIns="0" rIns="0" bIns="0" rtlCol="0" anchor="ctr"/>
          <a:lstStyle/>
          <a:p>
            <a:pPr indent="0" marL="0">
              <a:buNone/>
            </a:pPr>
            <a:r>
              <a:rPr lang="en-US" sz="1200" dirty="0">
                <a:solidFill>
                  <a:srgbClr val="7A8794"/>
                </a:solidFill>
                <a:latin typeface="Times New Roman" pitchFamily="34" charset="0"/>
                <a:ea typeface="Times New Roman" pitchFamily="34" charset="-122"/>
                <a:cs typeface="Times New Roman" pitchFamily="34" charset="-120"/>
              </a:rPr>
              <a:t>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20040"/>
            <a:ext cx="11155680" cy="475488"/>
          </a:xfrm>
          <a:prstGeom prst="rect">
            <a:avLst/>
          </a:prstGeom>
          <a:noFill/>
          <a:ln/>
        </p:spPr>
        <p:txBody>
          <a:bodyPr wrap="square" lIns="0" tIns="0" rIns="0" bIns="0" rtlCol="0" anchor="ctr"/>
          <a:lstStyle/>
          <a:p>
            <a:pPr indent="0" marL="0">
              <a:buNone/>
            </a:pPr>
            <a:r>
              <a:rPr lang="en-US" sz="2800" b="1" dirty="0">
                <a:solidFill>
                  <a:srgbClr val="173B5F"/>
                </a:solidFill>
                <a:latin typeface="Times New Roman" pitchFamily="34" charset="0"/>
                <a:ea typeface="Times New Roman" pitchFamily="34" charset="-122"/>
                <a:cs typeface="Times New Roman" pitchFamily="34" charset="-120"/>
              </a:rPr>
              <a:t>Expected Results — user study not yet run</a:t>
            </a:r>
            <a:endParaRPr lang="en-US" sz="2800" dirty="0"/>
          </a:p>
        </p:txBody>
      </p:sp>
      <p:sp>
        <p:nvSpPr>
          <p:cNvPr id="3" name="Shape 1"/>
          <p:cNvSpPr/>
          <p:nvPr/>
        </p:nvSpPr>
        <p:spPr>
          <a:xfrm>
            <a:off x="502920" y="914400"/>
            <a:ext cx="11155680" cy="0"/>
          </a:xfrm>
          <a:prstGeom prst="line">
            <a:avLst/>
          </a:prstGeom>
          <a:noFill/>
          <a:ln w="19050">
            <a:solidFill>
              <a:srgbClr val="2D6A9F"/>
            </a:solidFill>
            <a:prstDash val="solid"/>
          </a:ln>
        </p:spPr>
      </p:sp>
      <p:sp>
        <p:nvSpPr>
          <p:cNvPr id="4" name="Text 2"/>
          <p:cNvSpPr/>
          <p:nvPr/>
        </p:nvSpPr>
        <p:spPr>
          <a:xfrm>
            <a:off x="685800" y="1188720"/>
            <a:ext cx="5715000" cy="5074920"/>
          </a:xfrm>
          <a:prstGeom prst="rect">
            <a:avLst/>
          </a:prstGeom>
          <a:noFill/>
          <a:ln/>
        </p:spPr>
        <p:txBody>
          <a:bodyPr wrap="square" lIns="762" tIns="762" rIns="762" bIns="762" rtlCol="0" anchor="t">
            <a:spAutoFit/>
          </a:bodyPr>
          <a:lstStyle/>
          <a:p>
            <a:pPr marL="177800" indent="-177800">
              <a:lnSpc>
                <a:spcPct val="115000"/>
              </a:lnSpc>
              <a:buSzPct val="100000"/>
              <a:buChar char="•"/>
            </a:pPr>
            <a:r>
              <a:rPr lang="en-US" sz="1400" dirty="0">
                <a:solidFill>
                  <a:srgbClr val="111827"/>
                </a:solidFill>
                <a:latin typeface="Times New Roman" pitchFamily="34" charset="0"/>
                <a:ea typeface="Times New Roman" pitchFamily="34" charset="-122"/>
                <a:cs typeface="Times New Roman" pitchFamily="34" charset="-120"/>
              </a:rPr>
              <a:t>The user study has not been run yet.</a:t>
            </a:r>
            <a:endParaRPr lang="en-US" sz="1400" dirty="0"/>
          </a:p>
          <a:p>
            <a:pPr marL="177800" indent="-177800">
              <a:lnSpc>
                <a:spcPct val="115000"/>
              </a:lnSpc>
              <a:buSzPct val="100000"/>
              <a:buChar char="•"/>
            </a:pPr>
            <a:r>
              <a:rPr lang="en-US" sz="1400" dirty="0">
                <a:solidFill>
                  <a:srgbClr val="111827"/>
                </a:solidFill>
                <a:latin typeface="Times New Roman" pitchFamily="34" charset="0"/>
                <a:ea typeface="Times New Roman" pitchFamily="34" charset="-122"/>
                <a:cs typeface="Times New Roman" pitchFamily="34" charset="-120"/>
              </a:rPr>
              <a:t>I expect some students will first choose coal because it is cheaper.</a:t>
            </a:r>
            <a:endParaRPr lang="en-US" sz="1400" dirty="0"/>
          </a:p>
          <a:p>
            <a:pPr marL="177800" indent="-177800">
              <a:lnSpc>
                <a:spcPct val="115000"/>
              </a:lnSpc>
              <a:buSzPct val="100000"/>
              <a:buChar char="•"/>
            </a:pPr>
            <a:r>
              <a:rPr lang="en-US" sz="1400" dirty="0">
                <a:solidFill>
                  <a:srgbClr val="111827"/>
                </a:solidFill>
                <a:latin typeface="Times New Roman" pitchFamily="34" charset="0"/>
                <a:ea typeface="Times New Roman" pitchFamily="34" charset="-122"/>
                <a:cs typeface="Times New Roman" pitchFamily="34" charset="-120"/>
              </a:rPr>
              <a:t>I also expect that after seeing carbon emissions and ventilation feedback, some students will shift toward wind power or heat pumps.</a:t>
            </a:r>
            <a:endParaRPr lang="en-US" sz="1400" dirty="0"/>
          </a:p>
          <a:p>
            <a:pPr marL="177800" indent="-177800">
              <a:lnSpc>
                <a:spcPct val="115000"/>
              </a:lnSpc>
              <a:buSzPct val="100000"/>
              <a:buChar char="•"/>
            </a:pPr>
            <a:r>
              <a:rPr lang="en-US" sz="1400" dirty="0">
                <a:solidFill>
                  <a:srgbClr val="111827"/>
                </a:solidFill>
                <a:latin typeface="Times New Roman" pitchFamily="34" charset="0"/>
                <a:ea typeface="Times New Roman" pitchFamily="34" charset="-122"/>
                <a:cs typeface="Times New Roman" pitchFamily="34" charset="-120"/>
              </a:rPr>
              <a:t>I expect the JSON files to show different strategies: low-cost coal-heavy layouts, cleaner but more expensive layouts, and mixed layouts.</a:t>
            </a:r>
            <a:endParaRPr lang="en-US" sz="1400" dirty="0"/>
          </a:p>
          <a:p>
            <a:pPr marL="177800" indent="-177800">
              <a:lnSpc>
                <a:spcPct val="115000"/>
              </a:lnSpc>
              <a:buSzPct val="100000"/>
              <a:buChar char="•"/>
            </a:pPr>
            <a:r>
              <a:rPr lang="en-US" sz="1400" dirty="0">
                <a:solidFill>
                  <a:srgbClr val="111827"/>
                </a:solidFill>
                <a:latin typeface="Times New Roman" pitchFamily="34" charset="0"/>
                <a:ea typeface="Times New Roman" pitchFamily="34" charset="-122"/>
                <a:cs typeface="Times New Roman" pitchFamily="34" charset="-120"/>
              </a:rPr>
              <a:t>I will not report user numbers, percentages, or conclusions until I collect real user data.</a:t>
            </a:r>
            <a:endParaRPr lang="en-US" sz="1400" dirty="0"/>
          </a:p>
        </p:txBody>
      </p:sp>
      <p:sp>
        <p:nvSpPr>
          <p:cNvPr id="5" name="Shape 3"/>
          <p:cNvSpPr/>
          <p:nvPr/>
        </p:nvSpPr>
        <p:spPr>
          <a:xfrm>
            <a:off x="6720840" y="1325880"/>
            <a:ext cx="4709160" cy="3886200"/>
          </a:xfrm>
          <a:prstGeom prst="rect">
            <a:avLst/>
          </a:prstGeom>
          <a:solidFill>
            <a:srgbClr val="F3F4F6">
              <a:alpha val="85000"/>
            </a:srgbClr>
          </a:solidFill>
          <a:ln w="15240">
            <a:solidFill>
              <a:srgbClr val="8A95A3"/>
            </a:solidFill>
            <a:prstDash val="solid"/>
          </a:ln>
        </p:spPr>
      </p:sp>
      <p:sp>
        <p:nvSpPr>
          <p:cNvPr id="6" name="Text 4"/>
          <p:cNvSpPr/>
          <p:nvPr/>
        </p:nvSpPr>
        <p:spPr>
          <a:xfrm>
            <a:off x="7086600" y="2944368"/>
            <a:ext cx="3977640" cy="411480"/>
          </a:xfrm>
          <a:prstGeom prst="rect">
            <a:avLst/>
          </a:prstGeom>
          <a:noFill/>
          <a:ln/>
        </p:spPr>
        <p:txBody>
          <a:bodyPr wrap="square" lIns="0" tIns="0" rIns="0" bIns="0" rtlCol="0" anchor="ctr"/>
          <a:lstStyle/>
          <a:p>
            <a:pPr algn="ctr" indent="0" marL="0">
              <a:buNone/>
            </a:pPr>
            <a:r>
              <a:rPr lang="en-US" sz="1600" i="1" dirty="0">
                <a:solidFill>
                  <a:srgbClr val="6B7280"/>
                </a:solidFill>
                <a:latin typeface="Times New Roman" pitchFamily="34" charset="0"/>
                <a:ea typeface="Times New Roman" pitchFamily="34" charset="-122"/>
                <a:cs typeface="Times New Roman" pitchFamily="34" charset="-120"/>
              </a:rPr>
              <a:t>Insert prototype screenshot here</a:t>
            </a:r>
            <a:endParaRPr lang="en-US" sz="1600" dirty="0"/>
          </a:p>
        </p:txBody>
      </p:sp>
      <p:sp>
        <p:nvSpPr>
          <p:cNvPr id="7" name="Text 5"/>
          <p:cNvSpPr/>
          <p:nvPr/>
        </p:nvSpPr>
        <p:spPr>
          <a:xfrm>
            <a:off x="11475720" y="6446520"/>
            <a:ext cx="320040" cy="182880"/>
          </a:xfrm>
          <a:prstGeom prst="rect">
            <a:avLst/>
          </a:prstGeom>
          <a:noFill/>
          <a:ln/>
        </p:spPr>
        <p:txBody>
          <a:bodyPr wrap="square" lIns="0" tIns="0" rIns="0" bIns="0" rtlCol="0" anchor="ctr"/>
          <a:lstStyle/>
          <a:p>
            <a:pPr indent="0" marL="0">
              <a:buNone/>
            </a:pPr>
            <a:r>
              <a:rPr lang="en-US" sz="1200" dirty="0">
                <a:solidFill>
                  <a:srgbClr val="7A8794"/>
                </a:solidFill>
                <a:latin typeface="Times New Roman" pitchFamily="34" charset="0"/>
                <a:ea typeface="Times New Roman" pitchFamily="34" charset="-122"/>
                <a:cs typeface="Times New Roman" pitchFamily="34" charset="-120"/>
              </a:rPr>
              <a:t>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20040"/>
            <a:ext cx="11155680" cy="475488"/>
          </a:xfrm>
          <a:prstGeom prst="rect">
            <a:avLst/>
          </a:prstGeom>
          <a:noFill/>
          <a:ln/>
        </p:spPr>
        <p:txBody>
          <a:bodyPr wrap="square" lIns="0" tIns="0" rIns="0" bIns="0" rtlCol="0" anchor="ctr"/>
          <a:lstStyle/>
          <a:p>
            <a:pPr indent="0" marL="0">
              <a:buNone/>
            </a:pPr>
            <a:r>
              <a:rPr lang="en-US" sz="2800" b="1" dirty="0">
                <a:solidFill>
                  <a:srgbClr val="173B5F"/>
                </a:solidFill>
                <a:latin typeface="Times New Roman" pitchFamily="34" charset="0"/>
                <a:ea typeface="Times New Roman" pitchFamily="34" charset="-122"/>
                <a:cs typeface="Times New Roman" pitchFamily="34" charset="-120"/>
              </a:rPr>
              <a:t>References</a:t>
            </a:r>
            <a:endParaRPr lang="en-US" sz="2800" dirty="0"/>
          </a:p>
        </p:txBody>
      </p:sp>
      <p:sp>
        <p:nvSpPr>
          <p:cNvPr id="3" name="Shape 1"/>
          <p:cNvSpPr/>
          <p:nvPr/>
        </p:nvSpPr>
        <p:spPr>
          <a:xfrm>
            <a:off x="502920" y="914400"/>
            <a:ext cx="11155680" cy="0"/>
          </a:xfrm>
          <a:prstGeom prst="line">
            <a:avLst/>
          </a:prstGeom>
          <a:noFill/>
          <a:ln w="19050">
            <a:solidFill>
              <a:srgbClr val="2D6A9F"/>
            </a:solidFill>
            <a:prstDash val="solid"/>
          </a:ln>
        </p:spPr>
      </p:sp>
      <p:sp>
        <p:nvSpPr>
          <p:cNvPr id="4" name="Text 2"/>
          <p:cNvSpPr/>
          <p:nvPr/>
        </p:nvSpPr>
        <p:spPr>
          <a:xfrm>
            <a:off x="685800" y="1051560"/>
            <a:ext cx="10835640" cy="5303520"/>
          </a:xfrm>
          <a:prstGeom prst="rect">
            <a:avLst/>
          </a:prstGeom>
          <a:noFill/>
          <a:ln/>
        </p:spPr>
        <p:txBody>
          <a:bodyPr wrap="square" lIns="762" tIns="762" rIns="762" bIns="762" rtlCol="0" anchor="t">
            <a:spAutoFit/>
          </a:bodyPr>
          <a:lstStyle/>
          <a:p>
            <a:pPr indent="0" marL="0">
              <a:lnSpc>
                <a:spcPct val="115000"/>
              </a:lnSpc>
              <a:buNone/>
            </a:pPr>
            <a:r>
              <a:rPr lang="en-US" sz="1200" dirty="0">
                <a:solidFill>
                  <a:srgbClr val="111827"/>
                </a:solidFill>
                <a:latin typeface="Times New Roman" pitchFamily="34" charset="0"/>
                <a:ea typeface="Times New Roman" pitchFamily="34" charset="-122"/>
                <a:cs typeface="Times New Roman" pitchFamily="34" charset="-120"/>
              </a:rPr>
              <a:t>Guan, Y., Chen, H., &amp; Zhou, X. (2015). Study of urban ventilation corridor planning method based on a case study of Guiyang, China.</a:t>
            </a:r>
            <a:endParaRPr lang="en-US" sz="1200" dirty="0"/>
          </a:p>
          <a:p>
            <a:pPr indent="0" marL="0">
              <a:lnSpc>
                <a:spcPct val="115000"/>
              </a:lnSpc>
              <a:buNone/>
            </a:pPr>
            <a:endParaRPr lang="en-US" sz="1200" dirty="0"/>
          </a:p>
          <a:p>
            <a:pPr indent="0" marL="0">
              <a:lnSpc>
                <a:spcPct val="115000"/>
              </a:lnSpc>
              <a:buNone/>
            </a:pPr>
            <a:r>
              <a:rPr lang="en-US" sz="1200" dirty="0">
                <a:solidFill>
                  <a:srgbClr val="111827"/>
                </a:solidFill>
                <a:latin typeface="Times New Roman" pitchFamily="34" charset="0"/>
                <a:ea typeface="Times New Roman" pitchFamily="34" charset="-122"/>
                <a:cs typeface="Times New Roman" pitchFamily="34" charset="-120"/>
              </a:rPr>
              <a:t>International Energy Agency. (2023). Staying cool without overheating the energy system.</a:t>
            </a:r>
            <a:endParaRPr lang="en-US" sz="1200" dirty="0"/>
          </a:p>
          <a:p>
            <a:pPr indent="0" marL="0">
              <a:lnSpc>
                <a:spcPct val="115000"/>
              </a:lnSpc>
              <a:buNone/>
            </a:pPr>
            <a:endParaRPr lang="en-US" sz="1200" dirty="0"/>
          </a:p>
          <a:p>
            <a:pPr indent="0" marL="0">
              <a:lnSpc>
                <a:spcPct val="115000"/>
              </a:lnSpc>
              <a:buNone/>
            </a:pPr>
            <a:r>
              <a:rPr lang="en-US" sz="1200" dirty="0">
                <a:solidFill>
                  <a:srgbClr val="111827"/>
                </a:solidFill>
                <a:latin typeface="Times New Roman" pitchFamily="34" charset="0"/>
                <a:ea typeface="Times New Roman" pitchFamily="34" charset="-122"/>
                <a:cs typeface="Times New Roman" pitchFamily="34" charset="-120"/>
              </a:rPr>
              <a:t>International Energy Agency. (2023). Sustainable, affordable cooling can save tens of thousands of lives each year.</a:t>
            </a:r>
            <a:endParaRPr lang="en-US" sz="1200" dirty="0"/>
          </a:p>
          <a:p>
            <a:pPr indent="0" marL="0">
              <a:lnSpc>
                <a:spcPct val="115000"/>
              </a:lnSpc>
              <a:buNone/>
            </a:pPr>
            <a:endParaRPr lang="en-US" sz="1200" dirty="0"/>
          </a:p>
          <a:p>
            <a:pPr indent="0" marL="0">
              <a:lnSpc>
                <a:spcPct val="115000"/>
              </a:lnSpc>
              <a:buNone/>
            </a:pPr>
            <a:r>
              <a:rPr lang="en-US" sz="1200" dirty="0">
                <a:solidFill>
                  <a:srgbClr val="111827"/>
                </a:solidFill>
                <a:latin typeface="Times New Roman" pitchFamily="34" charset="0"/>
                <a:ea typeface="Times New Roman" pitchFamily="34" charset="-122"/>
                <a:cs typeface="Times New Roman" pitchFamily="34" charset="-120"/>
              </a:rPr>
              <a:t>Zheng et al. (2022). Urban ventilation planning and its associated benefits based on numerical experiments: A case study in Beijing, China.</a:t>
            </a:r>
            <a:endParaRPr lang="en-US" sz="1200" dirty="0"/>
          </a:p>
        </p:txBody>
      </p:sp>
      <p:sp>
        <p:nvSpPr>
          <p:cNvPr id="5" name="Text 3"/>
          <p:cNvSpPr/>
          <p:nvPr/>
        </p:nvSpPr>
        <p:spPr>
          <a:xfrm>
            <a:off x="11475720" y="6446520"/>
            <a:ext cx="320040" cy="182880"/>
          </a:xfrm>
          <a:prstGeom prst="rect">
            <a:avLst/>
          </a:prstGeom>
          <a:noFill/>
          <a:ln/>
        </p:spPr>
        <p:txBody>
          <a:bodyPr wrap="square" lIns="0" tIns="0" rIns="0" bIns="0" rtlCol="0" anchor="ctr"/>
          <a:lstStyle/>
          <a:p>
            <a:pPr indent="0" marL="0">
              <a:buNone/>
            </a:pPr>
            <a:r>
              <a:rPr lang="en-US" sz="1200" dirty="0">
                <a:solidFill>
                  <a:srgbClr val="7A8794"/>
                </a:solidFill>
                <a:latin typeface="Times New Roman" pitchFamily="34" charset="0"/>
                <a:ea typeface="Times New Roman" pitchFamily="34" charset="-122"/>
                <a:cs typeface="Times New Roman" pitchFamily="34" charset="-120"/>
              </a:rPr>
              <a:t>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20040"/>
            <a:ext cx="11155680" cy="475488"/>
          </a:xfrm>
          <a:prstGeom prst="rect">
            <a:avLst/>
          </a:prstGeom>
          <a:noFill/>
          <a:ln/>
        </p:spPr>
        <p:txBody>
          <a:bodyPr wrap="square" lIns="0" tIns="0" rIns="0" bIns="0" rtlCol="0" anchor="ctr"/>
          <a:lstStyle/>
          <a:p>
            <a:pPr indent="0" marL="0">
              <a:buNone/>
            </a:pPr>
            <a:r>
              <a:rPr lang="en-US" sz="2800" b="1" dirty="0">
                <a:solidFill>
                  <a:srgbClr val="173B5F"/>
                </a:solidFill>
                <a:latin typeface="Times New Roman" pitchFamily="34" charset="0"/>
                <a:ea typeface="Times New Roman" pitchFamily="34" charset="-122"/>
                <a:cs typeface="Times New Roman" pitchFamily="34" charset="-120"/>
              </a:rPr>
              <a:t>Acknowledgements</a:t>
            </a:r>
            <a:endParaRPr lang="en-US" sz="2800" dirty="0"/>
          </a:p>
        </p:txBody>
      </p:sp>
      <p:sp>
        <p:nvSpPr>
          <p:cNvPr id="3" name="Shape 1"/>
          <p:cNvSpPr/>
          <p:nvPr/>
        </p:nvSpPr>
        <p:spPr>
          <a:xfrm>
            <a:off x="502920" y="914400"/>
            <a:ext cx="11155680" cy="0"/>
          </a:xfrm>
          <a:prstGeom prst="line">
            <a:avLst/>
          </a:prstGeom>
          <a:noFill/>
          <a:ln w="19050">
            <a:solidFill>
              <a:srgbClr val="2D6A9F"/>
            </a:solidFill>
            <a:prstDash val="solid"/>
          </a:ln>
        </p:spPr>
      </p:sp>
      <p:sp>
        <p:nvSpPr>
          <p:cNvPr id="4" name="Text 2"/>
          <p:cNvSpPr/>
          <p:nvPr/>
        </p:nvSpPr>
        <p:spPr>
          <a:xfrm>
            <a:off x="960120" y="1874520"/>
            <a:ext cx="10149840" cy="2377440"/>
          </a:xfrm>
          <a:prstGeom prst="rect">
            <a:avLst/>
          </a:prstGeom>
          <a:noFill/>
          <a:ln/>
        </p:spPr>
        <p:txBody>
          <a:bodyPr wrap="square" lIns="762" tIns="762" rIns="762" bIns="762" rtlCol="0" anchor="t">
            <a:spAutoFit/>
          </a:bodyPr>
          <a:lstStyle/>
          <a:p>
            <a:pPr indent="0" marL="0">
              <a:lnSpc>
                <a:spcPct val="115000"/>
              </a:lnSpc>
              <a:buNone/>
            </a:pPr>
            <a:r>
              <a:rPr lang="en-US" sz="1800" dirty="0">
                <a:solidFill>
                  <a:srgbClr val="111827"/>
                </a:solidFill>
                <a:latin typeface="Times New Roman" pitchFamily="34" charset="0"/>
                <a:ea typeface="Times New Roman" pitchFamily="34" charset="-122"/>
                <a:cs typeface="Times New Roman" pitchFamily="34" charset="-120"/>
              </a:rPr>
              <a:t>Thank you to Lawted Wu for the course structure, comments, and guidance.</a:t>
            </a:r>
            <a:endParaRPr lang="en-US" sz="1800" dirty="0"/>
          </a:p>
          <a:p>
            <a:pPr indent="0" marL="0">
              <a:lnSpc>
                <a:spcPct val="115000"/>
              </a:lnSpc>
              <a:buNone/>
            </a:pPr>
            <a:endParaRPr lang="en-US" sz="1800" dirty="0"/>
          </a:p>
          <a:p>
            <a:pPr indent="0" marL="0">
              <a:lnSpc>
                <a:spcPct val="115000"/>
              </a:lnSpc>
              <a:buNone/>
            </a:pPr>
            <a:r>
              <a:rPr lang="en-US" sz="1800" dirty="0">
                <a:solidFill>
                  <a:srgbClr val="111827"/>
                </a:solidFill>
                <a:latin typeface="Times New Roman" pitchFamily="34" charset="0"/>
                <a:ea typeface="Times New Roman" pitchFamily="34" charset="-122"/>
                <a:cs typeface="Times New Roman" pitchFamily="34" charset="-120"/>
              </a:rPr>
              <a:t>Thank you to my classmates for future testing and feedback.</a:t>
            </a:r>
            <a:endParaRPr lang="en-US" sz="1800" dirty="0"/>
          </a:p>
        </p:txBody>
      </p:sp>
      <p:sp>
        <p:nvSpPr>
          <p:cNvPr id="5" name="Text 3"/>
          <p:cNvSpPr/>
          <p:nvPr/>
        </p:nvSpPr>
        <p:spPr>
          <a:xfrm>
            <a:off x="11475720" y="6446520"/>
            <a:ext cx="320040" cy="182880"/>
          </a:xfrm>
          <a:prstGeom prst="rect">
            <a:avLst/>
          </a:prstGeom>
          <a:noFill/>
          <a:ln/>
        </p:spPr>
        <p:txBody>
          <a:bodyPr wrap="square" lIns="0" tIns="0" rIns="0" bIns="0" rtlCol="0" anchor="ctr"/>
          <a:lstStyle/>
          <a:p>
            <a:pPr indent="0" marL="0">
              <a:buNone/>
            </a:pPr>
            <a:r>
              <a:rPr lang="en-US" sz="1200" dirty="0">
                <a:solidFill>
                  <a:srgbClr val="7A8794"/>
                </a:solidFill>
                <a:latin typeface="Times New Roman" pitchFamily="34" charset="0"/>
                <a:ea typeface="Times New Roman" pitchFamily="34" charset="-122"/>
                <a:cs typeface="Times New Roman" pitchFamily="34" charset="-120"/>
              </a:rPr>
              <a:t>9</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Times New Roman"/>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imes New Roman"/>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Generation AI 2026</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Mayor Climate Game</dc:title>
  <dc:subject>Midterm Defense</dc:subject>
  <dc:creator>Hu Yunhan</dc:creator>
  <cp:lastModifiedBy>Hu Yunhan</cp:lastModifiedBy>
  <cp:revision>1</cp:revision>
  <dcterms:created xsi:type="dcterms:W3CDTF">2026-06-19T10:01:08Z</dcterms:created>
  <dcterms:modified xsi:type="dcterms:W3CDTF">2026-06-19T10:01:08Z</dcterms:modified>
</cp:coreProperties>
</file>